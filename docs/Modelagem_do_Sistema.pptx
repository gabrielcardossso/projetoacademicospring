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E56F9010-FB54-C5A7-44CB-B96DEDF4CF42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Entidades" id="{F74740C4-90BE-91A1-F1CA-C6B587A74461}">
          <p14:sldIdLst/>
        </p14:section>
        <p14:section name="Relacionamentos" id="{A17CBC2D-ABBA-CEF4-F3BE-EDA56394464C}">
          <p14:sldIdLst/>
        </p14:section>
        <p14:section name="Camadas" id="{A5EBC5BA-CD1C-8926-E0DF-7B1BB9F61C7E}">
          <p14:sldIdLst/>
        </p14:section>
        <p14:section name="Regras de negócio" id="{60BDB0FD-8319-79B2-0F88-9B4970D93868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6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0412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material documenta as decisões de modelagem do grupo (SCRUM-5, 9, 11, 12 e 13).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Projeto e Atividade são o núcleo pedido no enunciado. Equipe, Gestor e Desenvolvedor surgiram para saber quem executa e quem responde pelos projetos (SCRUM-5).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campo tem um tipo adequado: Integer para chaves, String para textos, LocalDate para datas, enum para valores fixos e boolean para o controle de inativação (SCRUM-9).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Enums evitam valores inválidos: o banco só guarda os nomes definidos. O campo ativo permite inativar sem apagar histórico.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herança é de Usuario para Gestor e Desenvolvedor. A relação central do enunciado é Projeto 1—N Atividade: a atividade não existe sem projeto.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lado N guarda a chave estrangeira. O mappedBy indica o lado inverso, que só espelha a relação.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regras de negócio não ficam nos endpoints, como pede o enunciado: o Controller só delega ao Service (SCRUM-13).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Exemplo real: tentar concluir um projeto que ainda tem atividade pendente.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regras impedem dados inválidos e vêm do enunciado e do SCRUM-12. Todas estão no 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estão as regras que dependem da situação do projeto e das atividades.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mtClean="0"/>
              <a:t>Regras novas, de acesso. Ficam no SecurityConfig e no UsuarioService; as regras de negócio anteriores continuam nos mesmos Services.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3914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mtClean="0"/>
              <a:t>O login não passa por um Controller: o próprio Spring Security trata o POST /auth/login. O perfil vem do tipo do usuário: GestorEquipe vira GESTOR e Desenvolvedor vira DESENVOLVEDOR.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347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800" b="1" dirty="0">
                <a:solidFill>
                  <a:schemeClr val="bg1"/>
                </a:solidFill>
              </a:rPr>
              <a:t>Modelagem do Sistema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520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</a:rPr>
              <a:t>API de Gestão de Projetos e Atividades · Spring Boot + PostgreSQL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0233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600" smtClean="0">
                <a:solidFill>
                  <a:schemeClr val="accent2"/>
                </a:solidFill>
              </a:rPr>
              <a:t>Entidades · Relacionamentos · Camadas · Regras de negócio · Segurança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Seis entidades resolvem o problema</a:t>
            </a:r>
            <a:endParaRPr lang="en-US" sz="3200" dirty="0"/>
          </a:p>
        </p:txBody>
      </p:sp>
      <p:sp>
        <p:nvSpPr>
          <p:cNvPr id="4" name="card Projeto"/>
          <p:cNvSpPr/>
          <p:nvPr/>
        </p:nvSpPr>
        <p:spPr>
          <a:xfrm>
            <a:off x="548640" y="1463040"/>
            <a:ext cx="3611880" cy="2148840"/>
          </a:xfrm>
          <a:prstGeom prst="roundRect">
            <a:avLst>
              <a:gd name="adj" fmla="val 340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marca Projeto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645920" y="17373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Projeto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603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O trabalho em andamento: datas, descrição e status.</a:t>
            </a:r>
            <a:endParaRPr lang="en-US" sz="1600" dirty="0"/>
          </a:p>
        </p:txBody>
      </p:sp>
      <p:sp>
        <p:nvSpPr>
          <p:cNvPr id="9" name="card Atividade"/>
          <p:cNvSpPr/>
          <p:nvPr/>
        </p:nvSpPr>
        <p:spPr>
          <a:xfrm>
            <a:off x="4343400" y="1463040"/>
            <a:ext cx="3611880" cy="2148840"/>
          </a:xfrm>
          <a:prstGeom prst="roundRect">
            <a:avLst>
              <a:gd name="adj" fmla="val 340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marca Atividade"/>
          <p:cNvSpPr/>
          <p:nvPr/>
        </p:nvSpPr>
        <p:spPr>
          <a:xfrm>
            <a:off x="4617720" y="17373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1772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5440680" y="17373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Atividade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4617720" y="25603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Cada tarefa de um projeto: situação, prioridade e prazo.</a:t>
            </a:r>
            <a:endParaRPr lang="en-US" sz="1600" dirty="0"/>
          </a:p>
        </p:txBody>
      </p:sp>
      <p:sp>
        <p:nvSpPr>
          <p:cNvPr id="14" name="card Equipe"/>
          <p:cNvSpPr/>
          <p:nvPr/>
        </p:nvSpPr>
        <p:spPr>
          <a:xfrm>
            <a:off x="8138160" y="1463040"/>
            <a:ext cx="3611880" cy="2148840"/>
          </a:xfrm>
          <a:prstGeom prst="roundRect">
            <a:avLst>
              <a:gd name="adj" fmla="val 340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marca Equipe"/>
          <p:cNvSpPr/>
          <p:nvPr/>
        </p:nvSpPr>
        <p:spPr>
          <a:xfrm>
            <a:off x="8412480" y="17373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1248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9235440" y="17373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Equipe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8412480" y="25603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Agrupa desenvolvedores, um gestor e os projetos.</a:t>
            </a:r>
            <a:endParaRPr lang="en-US" sz="1600" dirty="0"/>
          </a:p>
        </p:txBody>
      </p:sp>
      <p:sp>
        <p:nvSpPr>
          <p:cNvPr id="19" name="card Usuario"/>
          <p:cNvSpPr/>
          <p:nvPr/>
        </p:nvSpPr>
        <p:spPr>
          <a:xfrm>
            <a:off x="548640" y="3840480"/>
            <a:ext cx="3611880" cy="2148840"/>
          </a:xfrm>
          <a:prstGeom prst="roundRect">
            <a:avLst>
              <a:gd name="adj" fmla="val 340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marca Usuario"/>
          <p:cNvSpPr/>
          <p:nvPr/>
        </p:nvSpPr>
        <p:spPr>
          <a:xfrm>
            <a:off x="822960" y="411480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296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22" name="Text 19"/>
          <p:cNvSpPr txBox="1"/>
          <p:nvPr/>
        </p:nvSpPr>
        <p:spPr>
          <a:xfrm>
            <a:off x="1645920" y="41148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Usuario</a:t>
            </a:r>
            <a:endParaRPr lang="en-US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822960" y="493776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600" smtClean="0">
                <a:solidFill>
                  <a:schemeClr val="tx1"/>
                </a:solidFill>
              </a:rPr>
              <a:t>Classe abstrata com nome, CPF, e-mail e senha.</a:t>
            </a:r>
            <a:endParaRPr lang="en-US" sz="1600" dirty="0"/>
          </a:p>
        </p:txBody>
      </p:sp>
      <p:sp>
        <p:nvSpPr>
          <p:cNvPr id="24" name="card GestorEquipe"/>
          <p:cNvSpPr/>
          <p:nvPr/>
        </p:nvSpPr>
        <p:spPr>
          <a:xfrm>
            <a:off x="4343400" y="3840480"/>
            <a:ext cx="3611880" cy="2148840"/>
          </a:xfrm>
          <a:prstGeom prst="roundRect">
            <a:avLst>
              <a:gd name="adj" fmla="val 340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marca GestorEquipe"/>
          <p:cNvSpPr/>
          <p:nvPr/>
        </p:nvSpPr>
        <p:spPr>
          <a:xfrm>
            <a:off x="4617720" y="411480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61772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5</a:t>
            </a:r>
            <a:endParaRPr lang="en-US" sz="2200" dirty="0"/>
          </a:p>
        </p:txBody>
      </p:sp>
      <p:sp>
        <p:nvSpPr>
          <p:cNvPr id="27" name="Text 24"/>
          <p:cNvSpPr txBox="1"/>
          <p:nvPr/>
        </p:nvSpPr>
        <p:spPr>
          <a:xfrm>
            <a:off x="5440680" y="41148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GestorEquipe</a:t>
            </a:r>
            <a:endParaRPr lang="en-US" sz="2200" dirty="0"/>
          </a:p>
        </p:txBody>
      </p:sp>
      <p:sp>
        <p:nvSpPr>
          <p:cNvPr id="28" name="Text 25"/>
          <p:cNvSpPr txBox="1"/>
          <p:nvPr/>
        </p:nvSpPr>
        <p:spPr>
          <a:xfrm>
            <a:off x="4617720" y="493776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600" smtClean="0">
                <a:solidFill>
                  <a:schemeClr val="tx1"/>
                </a:solidFill>
              </a:rPr>
              <a:t>Usuário que responde por uma equipe. Perfil GESTOR.</a:t>
            </a:r>
            <a:endParaRPr lang="en-US" sz="1600" dirty="0"/>
          </a:p>
        </p:txBody>
      </p:sp>
      <p:sp>
        <p:nvSpPr>
          <p:cNvPr id="29" name="card Desenvolvedor"/>
          <p:cNvSpPr/>
          <p:nvPr/>
        </p:nvSpPr>
        <p:spPr>
          <a:xfrm>
            <a:off x="8138160" y="3840480"/>
            <a:ext cx="3611880" cy="2148840"/>
          </a:xfrm>
          <a:prstGeom prst="roundRect">
            <a:avLst>
              <a:gd name="adj" fmla="val 340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marca Desenvolvedor"/>
          <p:cNvSpPr/>
          <p:nvPr/>
        </p:nvSpPr>
        <p:spPr>
          <a:xfrm>
            <a:off x="8412480" y="411480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1248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6</a:t>
            </a:r>
            <a:endParaRPr lang="en-US" sz="2200" dirty="0"/>
          </a:p>
        </p:txBody>
      </p:sp>
      <p:sp>
        <p:nvSpPr>
          <p:cNvPr id="32" name="Text 29"/>
          <p:cNvSpPr txBox="1"/>
          <p:nvPr/>
        </p:nvSpPr>
        <p:spPr>
          <a:xfrm>
            <a:off x="9235440" y="41148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Desenvolvedor</a:t>
            </a:r>
            <a:endParaRPr lang="en-US" sz="2200" dirty="0"/>
          </a:p>
        </p:txBody>
      </p:sp>
      <p:sp>
        <p:nvSpPr>
          <p:cNvPr id="33" name="Text 30"/>
          <p:cNvSpPr txBox="1"/>
          <p:nvPr/>
        </p:nvSpPr>
        <p:spPr>
          <a:xfrm>
            <a:off x="8412480" y="493776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600" smtClean="0">
                <a:solidFill>
                  <a:schemeClr val="tx1"/>
                </a:solidFill>
              </a:rPr>
              <a:t>Usuário que assume e executa atividades. Perfil DESENVOLVEDOR.</a:t>
            </a:r>
            <a:endParaRPr lang="en-US" sz="16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Modelagem: atributos e tipos de cada entidade</a:t>
            </a:r>
            <a:endParaRPr lang="en-US" sz="3200" dirty="0"/>
          </a:p>
        </p:txBody>
      </p:sp>
      <p:sp>
        <p:nvSpPr>
          <p:cNvPr id="4" name="entidade Usuario"/>
          <p:cNvSpPr/>
          <p:nvPr/>
        </p:nvSpPr>
        <p:spPr>
          <a:xfrm>
            <a:off x="548640" y="1371600"/>
            <a:ext cx="3611880" cy="1691640"/>
          </a:xfrm>
          <a:prstGeom prst="roundRect">
            <a:avLst>
              <a:gd name="adj" fmla="val 432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cabecalho Usuario"/>
          <p:cNvSpPr/>
          <p:nvPr/>
        </p:nvSpPr>
        <p:spPr>
          <a:xfrm>
            <a:off x="548640" y="1371600"/>
            <a:ext cx="3611880" cy="56692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itulo Usuario"/>
          <p:cNvSpPr txBox="1"/>
          <p:nvPr/>
        </p:nvSpPr>
        <p:spPr>
          <a:xfrm>
            <a:off x="658368" y="1371600"/>
            <a:ext cx="3392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Usuario</a:t>
            </a:r>
            <a:endParaRPr lang="en-US" sz="1500" dirty="0"/>
          </a:p>
          <a:p>
            <a:pPr marL="0" indent="0">
              <a:buNone/>
            </a:pPr>
            <a:r>
              <a:rPr lang="en-US" sz="1100" i="1" dirty="0">
                <a:solidFill>
                  <a:schemeClr val="bg1"/>
                </a:solidFill>
              </a:rPr>
              <a:t>classe abstrata · herança JOINED</a:t>
            </a:r>
            <a:endParaRPr lang="en-US" sz="1500" dirty="0"/>
          </a:p>
        </p:txBody>
      </p:sp>
      <p:sp>
        <p:nvSpPr>
          <p:cNvPr id="7" name="campos Usuario"/>
          <p:cNvSpPr txBox="1"/>
          <p:nvPr/>
        </p:nvSpPr>
        <p:spPr>
          <a:xfrm>
            <a:off x="658368" y="1993392"/>
            <a:ext cx="339242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smtClean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          Integer  (PK)</a:t>
            </a:r>
            <a:endParaRPr lang="en-US" sz="1300" dirty="0"/>
          </a:p>
          <a:p>
            <a:pPr marL="0" indent="0">
              <a:buNone/>
            </a:pPr>
            <a:r>
              <a:rPr lang="en-US" sz="1300" smtClean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          String</a:t>
            </a:r>
            <a:endParaRPr lang="en-US" sz="1300" dirty="0"/>
          </a:p>
          <a:p>
            <a:pPr marL="0" indent="0">
              <a:buNone/>
            </a:pPr>
            <a:r>
              <a:rPr lang="en-US" sz="1300" smtClean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cpf           String</a:t>
            </a:r>
            <a:endParaRPr lang="en-US" sz="1300" dirty="0"/>
          </a:p>
          <a:p>
            <a:pPr marL="0" indent="0">
              <a:buNone/>
            </a:pPr>
            <a:r>
              <a:rPr lang="en-US" sz="1300" smtClean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         String</a:t>
            </a:r>
          </a:p>
          <a:p>
            <a:pPr marL="0" indent="0">
              <a:buNone/>
            </a:pPr>
            <a:r>
              <a:rPr lang="en-US" sz="1300" smtClean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senha         String (BCrypt)</a:t>
            </a:r>
            <a:endParaRPr lang="en-US" sz="1300" dirty="0"/>
          </a:p>
        </p:txBody>
      </p:sp>
      <p:sp>
        <p:nvSpPr>
          <p:cNvPr id="8" name="entidade GestorEquipe"/>
          <p:cNvSpPr/>
          <p:nvPr/>
        </p:nvSpPr>
        <p:spPr>
          <a:xfrm>
            <a:off x="4343400" y="1371600"/>
            <a:ext cx="3611880" cy="1691640"/>
          </a:xfrm>
          <a:prstGeom prst="roundRect">
            <a:avLst>
              <a:gd name="adj" fmla="val 432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cabecalho GestorEquipe"/>
          <p:cNvSpPr/>
          <p:nvPr/>
        </p:nvSpPr>
        <p:spPr>
          <a:xfrm>
            <a:off x="4343400" y="1371600"/>
            <a:ext cx="3611880" cy="56692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itulo GestorEquipe"/>
          <p:cNvSpPr txBox="1"/>
          <p:nvPr/>
        </p:nvSpPr>
        <p:spPr>
          <a:xfrm>
            <a:off x="4453128" y="1371600"/>
            <a:ext cx="3392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GestorEquipe</a:t>
            </a:r>
            <a:endParaRPr lang="en-US" sz="1500" dirty="0"/>
          </a:p>
          <a:p>
            <a:pPr marL="0" indent="0">
              <a:buNone/>
            </a:pPr>
            <a:r>
              <a:rPr lang="en-US" sz="1100" i="1" dirty="0">
                <a:solidFill>
                  <a:schemeClr val="bg1"/>
                </a:solidFill>
              </a:rPr>
              <a:t>extends Usuario</a:t>
            </a:r>
            <a:endParaRPr lang="en-US" sz="1500" dirty="0"/>
          </a:p>
        </p:txBody>
      </p:sp>
      <p:sp>
        <p:nvSpPr>
          <p:cNvPr id="11" name="campos GestorEquipe"/>
          <p:cNvSpPr txBox="1"/>
          <p:nvPr/>
        </p:nvSpPr>
        <p:spPr>
          <a:xfrm>
            <a:off x="4453128" y="1993392"/>
            <a:ext cx="339242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equipeAtribuida → Equipe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(lado inverso, 1—1)</a:t>
            </a:r>
            <a:endParaRPr lang="en-US" sz="1300" dirty="0"/>
          </a:p>
        </p:txBody>
      </p:sp>
      <p:sp>
        <p:nvSpPr>
          <p:cNvPr id="12" name="entidade Desenvolvedor"/>
          <p:cNvSpPr/>
          <p:nvPr/>
        </p:nvSpPr>
        <p:spPr>
          <a:xfrm>
            <a:off x="8138160" y="1371600"/>
            <a:ext cx="3611880" cy="1691640"/>
          </a:xfrm>
          <a:prstGeom prst="roundRect">
            <a:avLst>
              <a:gd name="adj" fmla="val 432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cabecalho Desenvolvedor"/>
          <p:cNvSpPr/>
          <p:nvPr/>
        </p:nvSpPr>
        <p:spPr>
          <a:xfrm>
            <a:off x="8138160" y="1371600"/>
            <a:ext cx="3611880" cy="56692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titulo Desenvolvedor"/>
          <p:cNvSpPr txBox="1"/>
          <p:nvPr/>
        </p:nvSpPr>
        <p:spPr>
          <a:xfrm>
            <a:off x="8247888" y="1371600"/>
            <a:ext cx="3392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Desenvolvedor</a:t>
            </a:r>
            <a:endParaRPr lang="en-US" sz="1500" dirty="0"/>
          </a:p>
          <a:p>
            <a:pPr marL="0" indent="0">
              <a:buNone/>
            </a:pPr>
            <a:r>
              <a:rPr lang="en-US" sz="1100" i="1" dirty="0">
                <a:solidFill>
                  <a:schemeClr val="bg1"/>
                </a:solidFill>
              </a:rPr>
              <a:t>extends Usuario</a:t>
            </a:r>
            <a:endParaRPr lang="en-US" sz="1500" dirty="0"/>
          </a:p>
        </p:txBody>
      </p:sp>
      <p:sp>
        <p:nvSpPr>
          <p:cNvPr id="15" name="campos Desenvolvedor"/>
          <p:cNvSpPr txBox="1"/>
          <p:nvPr/>
        </p:nvSpPr>
        <p:spPr>
          <a:xfrm>
            <a:off x="8247888" y="1993392"/>
            <a:ext cx="339242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equipe            → Equipe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projetoAtribuido  → Projeto</a:t>
            </a:r>
            <a:endParaRPr lang="en-US" sz="1300" dirty="0"/>
          </a:p>
        </p:txBody>
      </p:sp>
      <p:sp>
        <p:nvSpPr>
          <p:cNvPr id="16" name="entidade Equipe"/>
          <p:cNvSpPr/>
          <p:nvPr/>
        </p:nvSpPr>
        <p:spPr>
          <a:xfrm>
            <a:off x="548640" y="3246120"/>
            <a:ext cx="3611880" cy="2926080"/>
          </a:xfrm>
          <a:prstGeom prst="roundRect">
            <a:avLst>
              <a:gd name="adj" fmla="val 2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cabecalho Equipe"/>
          <p:cNvSpPr/>
          <p:nvPr/>
        </p:nvSpPr>
        <p:spPr>
          <a:xfrm>
            <a:off x="548640" y="3246120"/>
            <a:ext cx="3611880" cy="3840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itulo Equipe"/>
          <p:cNvSpPr txBox="1"/>
          <p:nvPr/>
        </p:nvSpPr>
        <p:spPr>
          <a:xfrm>
            <a:off x="658368" y="3246120"/>
            <a:ext cx="3392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Equipe</a:t>
            </a:r>
            <a:endParaRPr lang="en-US" sz="1500" dirty="0"/>
          </a:p>
        </p:txBody>
      </p:sp>
      <p:sp>
        <p:nvSpPr>
          <p:cNvPr id="19" name="campos Equipe"/>
          <p:cNvSpPr txBox="1"/>
          <p:nvPr/>
        </p:nvSpPr>
        <p:spPr>
          <a:xfrm>
            <a:off x="658368" y="3685032"/>
            <a:ext cx="339242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      Integer (PK)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      String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gestor    → GestorEquipe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listaDeProjetos         [Projeto]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listaDeDesenvolvedores  [Dev]</a:t>
            </a:r>
            <a:endParaRPr lang="en-US" sz="1300" dirty="0"/>
          </a:p>
        </p:txBody>
      </p:sp>
      <p:sp>
        <p:nvSpPr>
          <p:cNvPr id="20" name="entidade Projeto"/>
          <p:cNvSpPr/>
          <p:nvPr/>
        </p:nvSpPr>
        <p:spPr>
          <a:xfrm>
            <a:off x="4343400" y="3246120"/>
            <a:ext cx="3611880" cy="2926080"/>
          </a:xfrm>
          <a:prstGeom prst="roundRect">
            <a:avLst>
              <a:gd name="adj" fmla="val 2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cabecalho Projeto"/>
          <p:cNvSpPr/>
          <p:nvPr/>
        </p:nvSpPr>
        <p:spPr>
          <a:xfrm>
            <a:off x="4343400" y="3246120"/>
            <a:ext cx="3611880" cy="3840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itulo Projeto"/>
          <p:cNvSpPr txBox="1"/>
          <p:nvPr/>
        </p:nvSpPr>
        <p:spPr>
          <a:xfrm>
            <a:off x="4453128" y="3246120"/>
            <a:ext cx="3392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Projeto</a:t>
            </a:r>
            <a:endParaRPr lang="en-US" sz="1500" dirty="0"/>
          </a:p>
        </p:txBody>
      </p:sp>
      <p:sp>
        <p:nvSpPr>
          <p:cNvPr id="23" name="campos Projeto"/>
          <p:cNvSpPr txBox="1"/>
          <p:nvPr/>
        </p:nvSpPr>
        <p:spPr>
          <a:xfrm>
            <a:off x="4453128" y="3685032"/>
            <a:ext cx="339242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       Integer (PK)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nome, descricao  String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dataInicio, dataFim LocalDate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     StatusProjeto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ativo      boolean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equipe     → Equipe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listaDeAtividades [Atividade]</a:t>
            </a:r>
            <a:endParaRPr lang="en-US" sz="1300" dirty="0"/>
          </a:p>
        </p:txBody>
      </p:sp>
      <p:sp>
        <p:nvSpPr>
          <p:cNvPr id="24" name="entidade Atividade"/>
          <p:cNvSpPr/>
          <p:nvPr/>
        </p:nvSpPr>
        <p:spPr>
          <a:xfrm>
            <a:off x="8138160" y="3246120"/>
            <a:ext cx="3611880" cy="2926080"/>
          </a:xfrm>
          <a:prstGeom prst="roundRect">
            <a:avLst>
              <a:gd name="adj" fmla="val 2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cabecalho Atividade"/>
          <p:cNvSpPr/>
          <p:nvPr/>
        </p:nvSpPr>
        <p:spPr>
          <a:xfrm>
            <a:off x="8138160" y="3246120"/>
            <a:ext cx="3611880" cy="3840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itulo Atividade"/>
          <p:cNvSpPr txBox="1"/>
          <p:nvPr/>
        </p:nvSpPr>
        <p:spPr>
          <a:xfrm>
            <a:off x="8247888" y="3246120"/>
            <a:ext cx="3392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Atividade</a:t>
            </a:r>
            <a:endParaRPr lang="en-US" sz="1500" dirty="0"/>
          </a:p>
        </p:txBody>
      </p:sp>
      <p:sp>
        <p:nvSpPr>
          <p:cNvPr id="27" name="campos Atividade"/>
          <p:cNvSpPr txBox="1"/>
          <p:nvPr/>
        </p:nvSpPr>
        <p:spPr>
          <a:xfrm>
            <a:off x="8247888" y="3685032"/>
            <a:ext cx="339242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      Integer (PK)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nome, descricao  String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situacaoAtual SituacaoAtividade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prioridade   Prioridade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dataInicio, dataFim LocalDate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ativo boolean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projeto       → Projeto (obrig.)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desenvolvedor → Desenvolvedor</a:t>
            </a:r>
            <a:endParaRPr lang="en-US" sz="13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Tipos de dados e enums escolhidos</a:t>
            </a:r>
            <a:endParaRPr lang="en-US" sz="3200" dirty="0"/>
          </a:p>
        </p:txBody>
      </p:sp>
      <p:sp>
        <p:nvSpPr>
          <p:cNvPr id="4" name="tipos"/>
          <p:cNvSpPr/>
          <p:nvPr/>
        </p:nvSpPr>
        <p:spPr>
          <a:xfrm>
            <a:off x="548640" y="1371600"/>
            <a:ext cx="5486400" cy="4754880"/>
          </a:xfrm>
          <a:prstGeom prst="roundRect">
            <a:avLst>
              <a:gd name="adj" fmla="val 153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ipos texto"/>
          <p:cNvSpPr txBox="1"/>
          <p:nvPr/>
        </p:nvSpPr>
        <p:spPr>
          <a:xfrm>
            <a:off x="822960" y="1600200"/>
            <a:ext cx="49377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800" b="1" smtClean="0">
                <a:solidFill>
                  <a:schemeClr val="tx2"/>
                </a:solidFill>
              </a:rPr>
              <a:t>Por que cada tipo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pt-BR" sz="1500" smtClean="0">
                <a:solidFill>
                  <a:schemeClr val="tx1"/>
                </a:solidFill>
              </a:rPr>
              <a:t>Integer: identificador gerado pelo banco (IDENTITY).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pt-BR" sz="1500" smtClean="0">
                <a:solidFill>
                  <a:schemeClr val="tx1"/>
                </a:solidFill>
              </a:rPr>
              <a:t>String: nome, descrição, CPF, e-mail e senha (hash BCrypt).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LocalDate: datas sem horário, ideais para prazos.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Enum (EnumType.STRING): valores fixos e legíveis no banco.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boolean ativo: inativação em vez de exclusão.</a:t>
            </a:r>
            <a:endParaRPr lang="en-US" sz="1800" dirty="0"/>
          </a:p>
        </p:txBody>
      </p:sp>
      <p:sp>
        <p:nvSpPr>
          <p:cNvPr id="6" name="enum StatusProjeto"/>
          <p:cNvSpPr/>
          <p:nvPr/>
        </p:nvSpPr>
        <p:spPr>
          <a:xfrm>
            <a:off x="6309360" y="1371600"/>
            <a:ext cx="5303520" cy="1481328"/>
          </a:xfrm>
          <a:prstGeom prst="roundRect">
            <a:avLst>
              <a:gd name="adj" fmla="val 493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537960" y="148132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StatusProjeto</a:t>
            </a:r>
            <a:endParaRPr lang="en-US" sz="1800" dirty="0"/>
          </a:p>
        </p:txBody>
      </p:sp>
      <p:sp>
        <p:nvSpPr>
          <p:cNvPr id="8" name="valor EM_ANDAMENTO"/>
          <p:cNvSpPr txBox="1"/>
          <p:nvPr/>
        </p:nvSpPr>
        <p:spPr>
          <a:xfrm>
            <a:off x="6537960" y="2057400"/>
            <a:ext cx="1554480" cy="45720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EM_ANDAMENTO</a:t>
            </a:r>
            <a:endParaRPr lang="en-US" sz="1200" dirty="0"/>
          </a:p>
        </p:txBody>
      </p:sp>
      <p:sp>
        <p:nvSpPr>
          <p:cNvPr id="9" name="valor CONCLUIDO"/>
          <p:cNvSpPr txBox="1"/>
          <p:nvPr/>
        </p:nvSpPr>
        <p:spPr>
          <a:xfrm>
            <a:off x="8202168" y="2057400"/>
            <a:ext cx="1554480" cy="45720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CONCLUIDO</a:t>
            </a:r>
            <a:endParaRPr lang="en-US" sz="1200" dirty="0"/>
          </a:p>
        </p:txBody>
      </p:sp>
      <p:sp>
        <p:nvSpPr>
          <p:cNvPr id="10" name="enum SituacaoAtividade"/>
          <p:cNvSpPr/>
          <p:nvPr/>
        </p:nvSpPr>
        <p:spPr>
          <a:xfrm>
            <a:off x="6309360" y="2999232"/>
            <a:ext cx="5303520" cy="1481328"/>
          </a:xfrm>
          <a:prstGeom prst="roundRect">
            <a:avLst>
              <a:gd name="adj" fmla="val 493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537960" y="31089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SituacaoAtividade</a:t>
            </a:r>
            <a:endParaRPr lang="en-US" sz="1800" dirty="0"/>
          </a:p>
        </p:txBody>
      </p:sp>
      <p:sp>
        <p:nvSpPr>
          <p:cNvPr id="12" name="valor PENDENTE"/>
          <p:cNvSpPr txBox="1"/>
          <p:nvPr/>
        </p:nvSpPr>
        <p:spPr>
          <a:xfrm>
            <a:off x="6537960" y="3685032"/>
            <a:ext cx="1554480" cy="45720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PENDENTE</a:t>
            </a:r>
            <a:endParaRPr lang="en-US" sz="1200" dirty="0"/>
          </a:p>
        </p:txBody>
      </p:sp>
      <p:sp>
        <p:nvSpPr>
          <p:cNvPr id="13" name="valor EM_ANDAMENTO"/>
          <p:cNvSpPr txBox="1"/>
          <p:nvPr/>
        </p:nvSpPr>
        <p:spPr>
          <a:xfrm>
            <a:off x="8202168" y="3685032"/>
            <a:ext cx="1554480" cy="45720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EM_ANDAMENTO</a:t>
            </a:r>
            <a:endParaRPr lang="en-US" sz="1200" dirty="0"/>
          </a:p>
        </p:txBody>
      </p:sp>
      <p:sp>
        <p:nvSpPr>
          <p:cNvPr id="14" name="valor CONCLUIDA"/>
          <p:cNvSpPr txBox="1"/>
          <p:nvPr/>
        </p:nvSpPr>
        <p:spPr>
          <a:xfrm>
            <a:off x="9866376" y="3685032"/>
            <a:ext cx="1554480" cy="45720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CONCLUIDA</a:t>
            </a:r>
            <a:endParaRPr lang="en-US" sz="1200" dirty="0"/>
          </a:p>
        </p:txBody>
      </p:sp>
      <p:sp>
        <p:nvSpPr>
          <p:cNvPr id="15" name="enum Prioridade"/>
          <p:cNvSpPr/>
          <p:nvPr/>
        </p:nvSpPr>
        <p:spPr>
          <a:xfrm>
            <a:off x="6309360" y="4626864"/>
            <a:ext cx="5303520" cy="1481328"/>
          </a:xfrm>
          <a:prstGeom prst="roundRect">
            <a:avLst>
              <a:gd name="adj" fmla="val 493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37960" y="473659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Prioridade</a:t>
            </a:r>
            <a:endParaRPr lang="en-US" sz="1800" dirty="0"/>
          </a:p>
        </p:txBody>
      </p:sp>
      <p:sp>
        <p:nvSpPr>
          <p:cNvPr id="17" name="valor BAIXA"/>
          <p:cNvSpPr txBox="1"/>
          <p:nvPr/>
        </p:nvSpPr>
        <p:spPr>
          <a:xfrm>
            <a:off x="6537960" y="5312664"/>
            <a:ext cx="1554480" cy="45720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BAIXA</a:t>
            </a:r>
            <a:endParaRPr lang="en-US" sz="1200" dirty="0"/>
          </a:p>
        </p:txBody>
      </p:sp>
      <p:sp>
        <p:nvSpPr>
          <p:cNvPr id="18" name="valor MEDIA"/>
          <p:cNvSpPr txBox="1"/>
          <p:nvPr/>
        </p:nvSpPr>
        <p:spPr>
          <a:xfrm>
            <a:off x="8202168" y="5312664"/>
            <a:ext cx="1554480" cy="45720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MEDIA</a:t>
            </a:r>
            <a:endParaRPr lang="en-US" sz="1200" dirty="0"/>
          </a:p>
        </p:txBody>
      </p:sp>
      <p:sp>
        <p:nvSpPr>
          <p:cNvPr id="19" name="valor ALTA"/>
          <p:cNvSpPr txBox="1"/>
          <p:nvPr/>
        </p:nvSpPr>
        <p:spPr>
          <a:xfrm>
            <a:off x="9866376" y="5312664"/>
            <a:ext cx="1554480" cy="45720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ALTA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Relacionamento entre as entidades</a:t>
            </a:r>
            <a:endParaRPr lang="en-US" sz="3200" dirty="0"/>
          </a:p>
        </p:txBody>
      </p:sp>
      <p:sp>
        <p:nvSpPr>
          <p:cNvPr id="4" name="heranca gestor"/>
          <p:cNvSpPr/>
          <p:nvPr/>
        </p:nvSpPr>
        <p:spPr>
          <a:xfrm flipV="1">
            <a:off x="1737360" y="2331720"/>
            <a:ext cx="1188720" cy="91440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dash"/>
            <a:tailEnd type="triangle"/>
          </a:ln>
        </p:spPr>
      </p:sp>
      <p:sp>
        <p:nvSpPr>
          <p:cNvPr id="5" name="heranca dev"/>
          <p:cNvSpPr/>
          <p:nvPr/>
        </p:nvSpPr>
        <p:spPr>
          <a:xfrm>
            <a:off x="2926080" y="2331720"/>
            <a:ext cx="1554480" cy="91440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dash"/>
            <a:tailEnd type="triangle"/>
          </a:ln>
        </p:spPr>
      </p:sp>
      <p:sp>
        <p:nvSpPr>
          <p:cNvPr id="6" name="gestor-equipe"/>
          <p:cNvSpPr/>
          <p:nvPr/>
        </p:nvSpPr>
        <p:spPr>
          <a:xfrm>
            <a:off x="1737360" y="4114800"/>
            <a:ext cx="1005840" cy="114300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7" name="dev-equipe"/>
          <p:cNvSpPr/>
          <p:nvPr/>
        </p:nvSpPr>
        <p:spPr>
          <a:xfrm flipV="1">
            <a:off x="3657600" y="4114800"/>
            <a:ext cx="822960" cy="114300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8" name="equipe-projeto"/>
          <p:cNvSpPr/>
          <p:nvPr/>
        </p:nvSpPr>
        <p:spPr>
          <a:xfrm>
            <a:off x="4297680" y="5692140"/>
            <a:ext cx="356616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9" name="projeto-atividade"/>
          <p:cNvSpPr/>
          <p:nvPr/>
        </p:nvSpPr>
        <p:spPr>
          <a:xfrm>
            <a:off x="9189720" y="4114800"/>
            <a:ext cx="0" cy="114300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</p:sp>
      <p:sp>
        <p:nvSpPr>
          <p:cNvPr id="10" name="dev-atividade"/>
          <p:cNvSpPr/>
          <p:nvPr/>
        </p:nvSpPr>
        <p:spPr>
          <a:xfrm>
            <a:off x="5669280" y="3680460"/>
            <a:ext cx="219456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11" name="dev-projeto"/>
          <p:cNvSpPr/>
          <p:nvPr/>
        </p:nvSpPr>
        <p:spPr>
          <a:xfrm>
            <a:off x="5394960" y="4114800"/>
            <a:ext cx="2468880" cy="132588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dash"/>
          </a:ln>
        </p:spPr>
      </p:sp>
      <p:sp>
        <p:nvSpPr>
          <p:cNvPr id="12" name="no Usuario"/>
          <p:cNvSpPr/>
          <p:nvPr/>
        </p:nvSpPr>
        <p:spPr>
          <a:xfrm>
            <a:off x="1737360" y="1463040"/>
            <a:ext cx="237744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marca Usuario"/>
          <p:cNvSpPr/>
          <p:nvPr/>
        </p:nvSpPr>
        <p:spPr>
          <a:xfrm>
            <a:off x="1737360" y="1463040"/>
            <a:ext cx="128016" cy="86868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texto Usuario"/>
          <p:cNvSpPr txBox="1"/>
          <p:nvPr/>
        </p:nvSpPr>
        <p:spPr>
          <a:xfrm>
            <a:off x="1993392" y="1463040"/>
            <a:ext cx="20482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Usuario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abstrata</a:t>
            </a:r>
            <a:endParaRPr lang="en-US" sz="1600" dirty="0"/>
          </a:p>
        </p:txBody>
      </p:sp>
      <p:sp>
        <p:nvSpPr>
          <p:cNvPr id="15" name="no GestorEquipe"/>
          <p:cNvSpPr/>
          <p:nvPr/>
        </p:nvSpPr>
        <p:spPr>
          <a:xfrm>
            <a:off x="548640" y="3246120"/>
            <a:ext cx="237744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marca GestorEquipe"/>
          <p:cNvSpPr/>
          <p:nvPr/>
        </p:nvSpPr>
        <p:spPr>
          <a:xfrm>
            <a:off x="548640" y="3246120"/>
            <a:ext cx="128016" cy="86868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o GestorEquipe"/>
          <p:cNvSpPr txBox="1"/>
          <p:nvPr/>
        </p:nvSpPr>
        <p:spPr>
          <a:xfrm>
            <a:off x="804672" y="3246120"/>
            <a:ext cx="20482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GestorEquipe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filha de Usuario</a:t>
            </a:r>
            <a:endParaRPr lang="en-US" sz="1600" dirty="0"/>
          </a:p>
        </p:txBody>
      </p:sp>
      <p:sp>
        <p:nvSpPr>
          <p:cNvPr id="18" name="no Desenvolvedor"/>
          <p:cNvSpPr/>
          <p:nvPr/>
        </p:nvSpPr>
        <p:spPr>
          <a:xfrm>
            <a:off x="3291840" y="3246120"/>
            <a:ext cx="237744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marca Desenvolvedor"/>
          <p:cNvSpPr/>
          <p:nvPr/>
        </p:nvSpPr>
        <p:spPr>
          <a:xfrm>
            <a:off x="3291840" y="3246120"/>
            <a:ext cx="128016" cy="86868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texto Desenvolvedor"/>
          <p:cNvSpPr txBox="1"/>
          <p:nvPr/>
        </p:nvSpPr>
        <p:spPr>
          <a:xfrm>
            <a:off x="3547872" y="3246120"/>
            <a:ext cx="20482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Desenvolvedor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filha de Usuario</a:t>
            </a:r>
            <a:endParaRPr lang="en-US" sz="1600" dirty="0"/>
          </a:p>
        </p:txBody>
      </p:sp>
      <p:sp>
        <p:nvSpPr>
          <p:cNvPr id="21" name="no Equipe"/>
          <p:cNvSpPr/>
          <p:nvPr/>
        </p:nvSpPr>
        <p:spPr>
          <a:xfrm>
            <a:off x="1920240" y="5257800"/>
            <a:ext cx="237744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marca Equipe"/>
          <p:cNvSpPr/>
          <p:nvPr/>
        </p:nvSpPr>
        <p:spPr>
          <a:xfrm>
            <a:off x="1920240" y="5257800"/>
            <a:ext cx="128016" cy="8686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o Equipe"/>
          <p:cNvSpPr txBox="1"/>
          <p:nvPr/>
        </p:nvSpPr>
        <p:spPr>
          <a:xfrm>
            <a:off x="2176272" y="5257800"/>
            <a:ext cx="20482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Equipe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agrupa pessoas e projetos</a:t>
            </a:r>
            <a:endParaRPr lang="en-US" sz="1600" dirty="0"/>
          </a:p>
        </p:txBody>
      </p:sp>
      <p:sp>
        <p:nvSpPr>
          <p:cNvPr id="24" name="no Atividade"/>
          <p:cNvSpPr/>
          <p:nvPr/>
        </p:nvSpPr>
        <p:spPr>
          <a:xfrm>
            <a:off x="7863840" y="3246120"/>
            <a:ext cx="265176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marca Atividade"/>
          <p:cNvSpPr/>
          <p:nvPr/>
        </p:nvSpPr>
        <p:spPr>
          <a:xfrm>
            <a:off x="7863840" y="3246120"/>
            <a:ext cx="128016" cy="8686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texto Atividade"/>
          <p:cNvSpPr txBox="1"/>
          <p:nvPr/>
        </p:nvSpPr>
        <p:spPr>
          <a:xfrm>
            <a:off x="8119872" y="3246120"/>
            <a:ext cx="23225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Atividade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sempre ligada a um projeto</a:t>
            </a:r>
            <a:endParaRPr lang="en-US" sz="1600" dirty="0"/>
          </a:p>
        </p:txBody>
      </p:sp>
      <p:sp>
        <p:nvSpPr>
          <p:cNvPr id="27" name="no Projeto"/>
          <p:cNvSpPr/>
          <p:nvPr/>
        </p:nvSpPr>
        <p:spPr>
          <a:xfrm>
            <a:off x="7863840" y="5257800"/>
            <a:ext cx="265176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marca Projeto"/>
          <p:cNvSpPr/>
          <p:nvPr/>
        </p:nvSpPr>
        <p:spPr>
          <a:xfrm>
            <a:off x="7863840" y="5257800"/>
            <a:ext cx="128016" cy="8686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o Projeto"/>
          <p:cNvSpPr txBox="1"/>
          <p:nvPr/>
        </p:nvSpPr>
        <p:spPr>
          <a:xfrm>
            <a:off x="8119872" y="5257800"/>
            <a:ext cx="23225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Projeto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possui várias atividades</a:t>
            </a:r>
            <a:endParaRPr lang="en-US" sz="1600" dirty="0"/>
          </a:p>
        </p:txBody>
      </p:sp>
      <p:sp>
        <p:nvSpPr>
          <p:cNvPr id="30" name="cardinalidade 1 — 1"/>
          <p:cNvSpPr txBox="1"/>
          <p:nvPr/>
        </p:nvSpPr>
        <p:spPr>
          <a:xfrm>
            <a:off x="1234440" y="4334256"/>
            <a:ext cx="731520" cy="29260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1 — 1</a:t>
            </a:r>
            <a:endParaRPr lang="en-US" sz="1200" dirty="0"/>
          </a:p>
        </p:txBody>
      </p:sp>
      <p:sp>
        <p:nvSpPr>
          <p:cNvPr id="31" name="cardinalidade N — 1"/>
          <p:cNvSpPr txBox="1"/>
          <p:nvPr/>
        </p:nvSpPr>
        <p:spPr>
          <a:xfrm>
            <a:off x="3703320" y="4379976"/>
            <a:ext cx="731520" cy="29260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N — 1</a:t>
            </a:r>
            <a:endParaRPr lang="en-US" sz="1200" dirty="0"/>
          </a:p>
        </p:txBody>
      </p:sp>
      <p:sp>
        <p:nvSpPr>
          <p:cNvPr id="32" name="cardinalidade 1 — N"/>
          <p:cNvSpPr txBox="1"/>
          <p:nvPr/>
        </p:nvSpPr>
        <p:spPr>
          <a:xfrm>
            <a:off x="5760720" y="5541264"/>
            <a:ext cx="731520" cy="29260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1 — N</a:t>
            </a:r>
            <a:endParaRPr lang="en-US" sz="1200" dirty="0"/>
          </a:p>
        </p:txBody>
      </p:sp>
      <p:sp>
        <p:nvSpPr>
          <p:cNvPr id="33" name="cardinalidade 1 — N"/>
          <p:cNvSpPr txBox="1"/>
          <p:nvPr/>
        </p:nvSpPr>
        <p:spPr>
          <a:xfrm>
            <a:off x="8823960" y="4562856"/>
            <a:ext cx="731520" cy="29260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1 — N</a:t>
            </a:r>
            <a:endParaRPr lang="en-US" sz="1200" dirty="0"/>
          </a:p>
        </p:txBody>
      </p:sp>
      <p:sp>
        <p:nvSpPr>
          <p:cNvPr id="34" name="cardinalidade 1 — N"/>
          <p:cNvSpPr txBox="1"/>
          <p:nvPr/>
        </p:nvSpPr>
        <p:spPr>
          <a:xfrm>
            <a:off x="6355080" y="3529584"/>
            <a:ext cx="731520" cy="29260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1 — N</a:t>
            </a:r>
            <a:endParaRPr lang="en-US" sz="1200" dirty="0"/>
          </a:p>
        </p:txBody>
      </p:sp>
      <p:sp>
        <p:nvSpPr>
          <p:cNvPr id="35" name="cardinalidade N — 1"/>
          <p:cNvSpPr txBox="1"/>
          <p:nvPr/>
        </p:nvSpPr>
        <p:spPr>
          <a:xfrm>
            <a:off x="6355080" y="4562856"/>
            <a:ext cx="731520" cy="292608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N — 1</a:t>
            </a:r>
            <a:endParaRPr lang="en-US" sz="1200" dirty="0"/>
          </a:p>
        </p:txBody>
      </p:sp>
      <p:sp>
        <p:nvSpPr>
          <p:cNvPr id="36" name="legenda"/>
          <p:cNvSpPr/>
          <p:nvPr/>
        </p:nvSpPr>
        <p:spPr>
          <a:xfrm>
            <a:off x="6035040" y="1371600"/>
            <a:ext cx="557784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legenda texto"/>
          <p:cNvSpPr txBox="1"/>
          <p:nvPr/>
        </p:nvSpPr>
        <p:spPr>
          <a:xfrm>
            <a:off x="6217920" y="1444752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Como ler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Equipe 1 — N Desenvolvedor: cada dev está em uma equipe.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Projeto 1 — N Atividade: a chave estrangeira fica na atividade.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Linha tracejada com seta: herança · tracejada reta: projeto atribuído.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Como cada relacionamento foi mapeado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Relação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Cardinalidade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Chave estrangeira em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Mapeamento JPA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Equipe e GestorEquipe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 — 1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equipe.gestor_id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@OneToOne / mappedBy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Equipe e Desenvolvedor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 — N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desenvolvedor.equipe_id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@ManyToOne / @OneToMany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Equipe e Projeto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 — N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projeto.equipe_id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@ManyToOne / @OneToMany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Projeto e Atividade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 — N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atividade.projeto_id (obrigatória)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@ManyToOne(optional=false)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Desenvolvedor e Atividade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 — N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atividade.desenvolvedor_id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@ManyToOne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Desenvolvedor e Projeto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 — 1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desenvolvedor.projeto_atribuido_id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@ManyToOne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Usuario e filhas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herança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tabelas ligadas pelo id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InheritanceType.JOINED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chemeClr val="accent1"/>
                </a:solidFill>
              </a:rPr>
              <a:t>A restrição optional=false na atividade garante no próprio banco a regra "atividade não existe sem projeto".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Organização das camadas</a:t>
            </a:r>
            <a:endParaRPr lang="en-US" sz="3200" dirty="0"/>
          </a:p>
        </p:txBody>
      </p:sp>
      <p:sp>
        <p:nvSpPr>
          <p:cNvPr id="4" name="camada Controller"/>
          <p:cNvSpPr/>
          <p:nvPr/>
        </p:nvSpPr>
        <p:spPr>
          <a:xfrm>
            <a:off x="548640" y="1463040"/>
            <a:ext cx="2514600" cy="237744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cab Controller"/>
          <p:cNvSpPr/>
          <p:nvPr/>
        </p:nvSpPr>
        <p:spPr>
          <a:xfrm>
            <a:off x="548640" y="1463040"/>
            <a:ext cx="2514600" cy="56692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46304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Controller</a:t>
            </a:r>
            <a:endParaRPr lang="en-US" sz="2000" dirty="0"/>
          </a:p>
        </p:txBody>
      </p:sp>
      <p:sp>
        <p:nvSpPr>
          <p:cNvPr id="7" name="desc Controller"/>
          <p:cNvSpPr txBox="1"/>
          <p:nvPr/>
        </p:nvSpPr>
        <p:spPr>
          <a:xfrm>
            <a:off x="685800" y="21488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Recebe o pedido HTTP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Lê os parâmetros e chama o Service. Nenhuma regra aqui.</a:t>
            </a:r>
            <a:endParaRPr lang="en-US" sz="1600" dirty="0"/>
          </a:p>
        </p:txBody>
      </p:sp>
      <p:sp>
        <p:nvSpPr>
          <p:cNvPr id="8" name="seta"/>
          <p:cNvSpPr txBox="1"/>
          <p:nvPr/>
        </p:nvSpPr>
        <p:spPr>
          <a:xfrm>
            <a:off x="3063240" y="2468880"/>
            <a:ext cx="338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6"/>
                </a:solidFill>
              </a:rPr>
              <a:t>→</a:t>
            </a:r>
            <a:endParaRPr lang="en-US" sz="2800" dirty="0"/>
          </a:p>
        </p:txBody>
      </p:sp>
      <p:sp>
        <p:nvSpPr>
          <p:cNvPr id="9" name="camada Service"/>
          <p:cNvSpPr/>
          <p:nvPr/>
        </p:nvSpPr>
        <p:spPr>
          <a:xfrm>
            <a:off x="3401568" y="1463040"/>
            <a:ext cx="2514600" cy="237744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cab Service"/>
          <p:cNvSpPr/>
          <p:nvPr/>
        </p:nvSpPr>
        <p:spPr>
          <a:xfrm>
            <a:off x="3401568" y="1463040"/>
            <a:ext cx="2514600" cy="56692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538728" y="146304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Service</a:t>
            </a:r>
            <a:endParaRPr lang="en-US" sz="2000" dirty="0"/>
          </a:p>
        </p:txBody>
      </p:sp>
      <p:sp>
        <p:nvSpPr>
          <p:cNvPr id="12" name="desc Service"/>
          <p:cNvSpPr txBox="1"/>
          <p:nvPr/>
        </p:nvSpPr>
        <p:spPr>
          <a:xfrm>
            <a:off x="3538728" y="21488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Regras de negócio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Valida, decide e coordena. Único lugar das regras.</a:t>
            </a:r>
            <a:endParaRPr lang="en-US" sz="1600" dirty="0"/>
          </a:p>
        </p:txBody>
      </p:sp>
      <p:sp>
        <p:nvSpPr>
          <p:cNvPr id="13" name="seta"/>
          <p:cNvSpPr txBox="1"/>
          <p:nvPr/>
        </p:nvSpPr>
        <p:spPr>
          <a:xfrm>
            <a:off x="5916168" y="2468880"/>
            <a:ext cx="338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6"/>
                </a:solidFill>
              </a:rPr>
              <a:t>→</a:t>
            </a:r>
            <a:endParaRPr lang="en-US" sz="2800" dirty="0"/>
          </a:p>
        </p:txBody>
      </p:sp>
      <p:sp>
        <p:nvSpPr>
          <p:cNvPr id="14" name="camada Repository"/>
          <p:cNvSpPr/>
          <p:nvPr/>
        </p:nvSpPr>
        <p:spPr>
          <a:xfrm>
            <a:off x="6254496" y="1463040"/>
            <a:ext cx="2514600" cy="237744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cab Repository"/>
          <p:cNvSpPr/>
          <p:nvPr/>
        </p:nvSpPr>
        <p:spPr>
          <a:xfrm>
            <a:off x="6254496" y="1463040"/>
            <a:ext cx="2514600" cy="56692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91656" y="146304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Repository</a:t>
            </a:r>
            <a:endParaRPr lang="en-US" sz="2000" dirty="0"/>
          </a:p>
        </p:txBody>
      </p:sp>
      <p:sp>
        <p:nvSpPr>
          <p:cNvPr id="17" name="desc Repository"/>
          <p:cNvSpPr txBox="1"/>
          <p:nvPr/>
        </p:nvSpPr>
        <p:spPr>
          <a:xfrm>
            <a:off x="6391656" y="21488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Acesso aos dados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Spring Data JPA: consultas e persistência.</a:t>
            </a:r>
            <a:endParaRPr lang="en-US" sz="1600" dirty="0"/>
          </a:p>
        </p:txBody>
      </p:sp>
      <p:sp>
        <p:nvSpPr>
          <p:cNvPr id="18" name="seta"/>
          <p:cNvSpPr txBox="1"/>
          <p:nvPr/>
        </p:nvSpPr>
        <p:spPr>
          <a:xfrm>
            <a:off x="8769096" y="2468880"/>
            <a:ext cx="338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6"/>
                </a:solidFill>
              </a:rPr>
              <a:t>→</a:t>
            </a:r>
            <a:endParaRPr lang="en-US" sz="2800" dirty="0"/>
          </a:p>
        </p:txBody>
      </p:sp>
      <p:sp>
        <p:nvSpPr>
          <p:cNvPr id="19" name="camada Entity"/>
          <p:cNvSpPr/>
          <p:nvPr/>
        </p:nvSpPr>
        <p:spPr>
          <a:xfrm>
            <a:off x="9107424" y="1463040"/>
            <a:ext cx="2514600" cy="237744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cab Entity"/>
          <p:cNvSpPr/>
          <p:nvPr/>
        </p:nvSpPr>
        <p:spPr>
          <a:xfrm>
            <a:off x="9107424" y="1463040"/>
            <a:ext cx="2514600" cy="566928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44584" y="146304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Entity</a:t>
            </a:r>
            <a:endParaRPr lang="en-US" sz="2000" dirty="0"/>
          </a:p>
        </p:txBody>
      </p:sp>
      <p:sp>
        <p:nvSpPr>
          <p:cNvPr id="22" name="desc Entity"/>
          <p:cNvSpPr txBox="1"/>
          <p:nvPr/>
        </p:nvSpPr>
        <p:spPr>
          <a:xfrm>
            <a:off x="9244584" y="21488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Modelo do banco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@Entity, @Id, @ManyToOne: mapeia as tabelas.</a:t>
            </a:r>
            <a:endParaRPr lang="en-US" sz="1600" dirty="0"/>
          </a:p>
        </p:txBody>
      </p:sp>
      <p:sp>
        <p:nvSpPr>
          <p:cNvPr id="23" name="regra de dependencia"/>
          <p:cNvSpPr/>
          <p:nvPr/>
        </p:nvSpPr>
        <p:spPr>
          <a:xfrm>
            <a:off x="548640" y="4160520"/>
            <a:ext cx="11064240" cy="1691640"/>
          </a:xfrm>
          <a:prstGeom prst="roundRect">
            <a:avLst>
              <a:gd name="adj" fmla="val 432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822960" y="4251960"/>
            <a:ext cx="10515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Regra de ouro: cada camada só conversa com a seguinte.</a:t>
            </a:r>
            <a:endParaRPr lang="en-US" sz="18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O Controller nunca acessa o banco e o Repository nunca decide regra. Assim, trocar uma regra mexe em um único lugar: o Service.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Um pedido atravessando as camadas</a:t>
            </a:r>
            <a:endParaRPr lang="en-US" sz="3200" dirty="0"/>
          </a:p>
        </p:txBody>
      </p:sp>
      <p:sp>
        <p:nvSpPr>
          <p:cNvPr id="4" name="passo 1"/>
          <p:cNvSpPr/>
          <p:nvPr/>
        </p:nvSpPr>
        <p:spPr>
          <a:xfrm>
            <a:off x="548640" y="1417320"/>
            <a:ext cx="1106424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num 1"/>
          <p:cNvSpPr/>
          <p:nvPr/>
        </p:nvSpPr>
        <p:spPr>
          <a:xfrm>
            <a:off x="731520" y="155448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14173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Controller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3383280" y="14173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PUT /projeto/atualizarStatus/1?status=CONCLUIDO</a:t>
            </a:r>
            <a:endParaRPr lang="en-US" sz="1500" dirty="0"/>
          </a:p>
        </p:txBody>
      </p:sp>
      <p:sp>
        <p:nvSpPr>
          <p:cNvPr id="9" name="passo 2"/>
          <p:cNvSpPr/>
          <p:nvPr/>
        </p:nvSpPr>
        <p:spPr>
          <a:xfrm>
            <a:off x="548640" y="2368296"/>
            <a:ext cx="1106424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num 2"/>
          <p:cNvSpPr/>
          <p:nvPr/>
        </p:nvSpPr>
        <p:spPr>
          <a:xfrm>
            <a:off x="731520" y="2505456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2505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508760" y="2368296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Service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383280" y="2368296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Busca as atividades ativas e verifica se todas estão CONCLUIDA</a:t>
            </a:r>
            <a:endParaRPr lang="en-US" sz="1500" dirty="0"/>
          </a:p>
        </p:txBody>
      </p:sp>
      <p:sp>
        <p:nvSpPr>
          <p:cNvPr id="14" name="passo 3"/>
          <p:cNvSpPr/>
          <p:nvPr/>
        </p:nvSpPr>
        <p:spPr>
          <a:xfrm>
            <a:off x="548640" y="3319272"/>
            <a:ext cx="1106424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num 3"/>
          <p:cNvSpPr/>
          <p:nvPr/>
        </p:nvSpPr>
        <p:spPr>
          <a:xfrm>
            <a:off x="731520" y="3456432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31520" y="34564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1508760" y="331927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Repository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3383280" y="331927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findById(1) lê o projeto e suas atividades no PostgreSQL</a:t>
            </a:r>
            <a:endParaRPr lang="en-US" sz="1500" dirty="0"/>
          </a:p>
        </p:txBody>
      </p:sp>
      <p:sp>
        <p:nvSpPr>
          <p:cNvPr id="19" name="passo 4"/>
          <p:cNvSpPr/>
          <p:nvPr/>
        </p:nvSpPr>
        <p:spPr>
          <a:xfrm>
            <a:off x="548640" y="4270248"/>
            <a:ext cx="1106424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num 4"/>
          <p:cNvSpPr/>
          <p:nvPr/>
        </p:nvSpPr>
        <p:spPr>
          <a:xfrm>
            <a:off x="731520" y="440740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31520" y="4407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1508760" y="427024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Service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3383280" y="427024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Encontrou pendência: não salva e devolve a mensagem de recusa</a:t>
            </a:r>
            <a:endParaRPr lang="en-US" sz="1500" dirty="0"/>
          </a:p>
        </p:txBody>
      </p:sp>
      <p:sp>
        <p:nvSpPr>
          <p:cNvPr id="24" name="passo 5"/>
          <p:cNvSpPr/>
          <p:nvPr/>
        </p:nvSpPr>
        <p:spPr>
          <a:xfrm>
            <a:off x="548640" y="5221224"/>
            <a:ext cx="1106424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num 5"/>
          <p:cNvSpPr/>
          <p:nvPr/>
        </p:nvSpPr>
        <p:spPr>
          <a:xfrm>
            <a:off x="731520" y="5358384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31520" y="53583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1508760" y="5221224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Controller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3383280" y="5221224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Responde: "Não é possível concluir o projeto: existem atividades não concluídas!"</a:t>
            </a:r>
            <a:endParaRPr lang="en-US" sz="15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Regras de negócio: integridade dos dados</a:t>
            </a:r>
            <a:endParaRPr lang="en-US" sz="3200" dirty="0"/>
          </a:p>
        </p:txBody>
      </p:sp>
      <p:sp>
        <p:nvSpPr>
          <p:cNvPr id="4" name="regra Sem campos em branco"/>
          <p:cNvSpPr/>
          <p:nvPr/>
        </p:nvSpPr>
        <p:spPr>
          <a:xfrm>
            <a:off x="548640" y="1371600"/>
            <a:ext cx="3611880" cy="2240280"/>
          </a:xfrm>
          <a:prstGeom prst="roundRect">
            <a:avLst>
              <a:gd name="adj" fmla="val 326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icone Sem campos em branco"/>
          <p:cNvSpPr/>
          <p:nvPr/>
        </p:nvSpPr>
        <p:spPr>
          <a:xfrm>
            <a:off x="777240" y="1600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✓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1554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Sem campos em branco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24028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Nome, descrição, datas e prioridade são obrigatórios. Texto vazio ou só com espaços é recusado.</a:t>
            </a:r>
            <a:endParaRPr lang="en-US" sz="1500" dirty="0"/>
          </a:p>
        </p:txBody>
      </p:sp>
      <p:sp>
        <p:nvSpPr>
          <p:cNvPr id="9" name="regra Datas fazem sentido"/>
          <p:cNvSpPr/>
          <p:nvPr/>
        </p:nvSpPr>
        <p:spPr>
          <a:xfrm>
            <a:off x="4297680" y="1371600"/>
            <a:ext cx="3611880" cy="2240280"/>
          </a:xfrm>
          <a:prstGeom prst="roundRect">
            <a:avLst>
              <a:gd name="adj" fmla="val 326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icone Datas fazem sentido"/>
          <p:cNvSpPr/>
          <p:nvPr/>
        </p:nvSpPr>
        <p:spPr>
          <a:xfrm>
            <a:off x="4526280" y="1600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262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✓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5166360" y="1554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Datas fazem sentido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4526280" y="224028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O fim não pode ser anterior ao início nem estar no passado (ex.: prazo em 2020).</a:t>
            </a:r>
            <a:endParaRPr lang="en-US" sz="1500" dirty="0"/>
          </a:p>
        </p:txBody>
      </p:sp>
      <p:sp>
        <p:nvSpPr>
          <p:cNvPr id="14" name="regra Atividade dentro do projeto"/>
          <p:cNvSpPr/>
          <p:nvPr/>
        </p:nvSpPr>
        <p:spPr>
          <a:xfrm>
            <a:off x="8046720" y="1371600"/>
            <a:ext cx="3566160" cy="2240280"/>
          </a:xfrm>
          <a:prstGeom prst="roundRect">
            <a:avLst>
              <a:gd name="adj" fmla="val 326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icone Atividade dentro do projeto"/>
          <p:cNvSpPr/>
          <p:nvPr/>
        </p:nvSpPr>
        <p:spPr>
          <a:xfrm>
            <a:off x="8275320" y="1600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7532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✓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8915400" y="15544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Atividade dentro do projeto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8275320" y="224028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As datas da atividade precisam caber no período do projeto, e o projeto não encolhe abaixo delas.</a:t>
            </a:r>
            <a:endParaRPr lang="en-US" sz="1500" dirty="0"/>
          </a:p>
        </p:txBody>
      </p:sp>
      <p:sp>
        <p:nvSpPr>
          <p:cNvPr id="19" name="regra Atividade exige projeto"/>
          <p:cNvSpPr/>
          <p:nvPr/>
        </p:nvSpPr>
        <p:spPr>
          <a:xfrm>
            <a:off x="548640" y="3840480"/>
            <a:ext cx="3611880" cy="2240280"/>
          </a:xfrm>
          <a:prstGeom prst="roundRect">
            <a:avLst>
              <a:gd name="adj" fmla="val 326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icone Atividade exige projeto"/>
          <p:cNvSpPr/>
          <p:nvPr/>
        </p:nvSpPr>
        <p:spPr>
          <a:xfrm>
            <a:off x="777240" y="40690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7724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✓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1417320" y="4023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Atividade exige projeto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777240" y="470916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Não existe atividade solta: o projeto é obrigatório no cadastro e no banco.</a:t>
            </a:r>
            <a:endParaRPr lang="en-US" sz="1500" dirty="0"/>
          </a:p>
        </p:txBody>
      </p:sp>
      <p:sp>
        <p:nvSpPr>
          <p:cNvPr id="24" name="regra Gestor de uma equipe só"/>
          <p:cNvSpPr/>
          <p:nvPr/>
        </p:nvSpPr>
        <p:spPr>
          <a:xfrm>
            <a:off x="4297680" y="3840480"/>
            <a:ext cx="3611880" cy="2240280"/>
          </a:xfrm>
          <a:prstGeom prst="roundRect">
            <a:avLst>
              <a:gd name="adj" fmla="val 326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icone Gestor de uma equipe só"/>
          <p:cNvSpPr/>
          <p:nvPr/>
        </p:nvSpPr>
        <p:spPr>
          <a:xfrm>
            <a:off x="4526280" y="40690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52628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✓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5166360" y="4023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Gestor de uma equipe só</a:t>
            </a:r>
            <a:endParaRPr 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4526280" y="470916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Um gestor não pode ser atribuído a duas equipes ao mesmo tempo.</a:t>
            </a:r>
            <a:endParaRPr lang="en-US" sz="1500" dirty="0"/>
          </a:p>
        </p:txBody>
      </p:sp>
      <p:sp>
        <p:nvSpPr>
          <p:cNvPr id="29" name="regra Dev da equipe do projeto"/>
          <p:cNvSpPr/>
          <p:nvPr/>
        </p:nvSpPr>
        <p:spPr>
          <a:xfrm>
            <a:off x="8046720" y="3840480"/>
            <a:ext cx="3566160" cy="2240280"/>
          </a:xfrm>
          <a:prstGeom prst="roundRect">
            <a:avLst>
              <a:gd name="adj" fmla="val 326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icone Dev da equipe do projeto"/>
          <p:cNvSpPr/>
          <p:nvPr/>
        </p:nvSpPr>
        <p:spPr>
          <a:xfrm>
            <a:off x="8275320" y="40690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7532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✓</a:t>
            </a:r>
            <a:endParaRPr lang="en-US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8915400" y="40233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Dev da equipe do projeto</a:t>
            </a:r>
            <a:endParaRPr lang="en-US" sz="1700" dirty="0"/>
          </a:p>
        </p:txBody>
      </p:sp>
      <p:sp>
        <p:nvSpPr>
          <p:cNvPr id="33" name="Text 30"/>
          <p:cNvSpPr txBox="1"/>
          <p:nvPr/>
        </p:nvSpPr>
        <p:spPr>
          <a:xfrm>
            <a:off x="8275320" y="470916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Só desenvolvedor da equipe responsável pelo projeto assume a atividade ou o projeto.</a:t>
            </a:r>
            <a:endParaRPr lang="en-US" sz="15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Regras de negócio: ciclo de vida</a:t>
            </a:r>
            <a:endParaRPr lang="en-US" sz="3200" dirty="0"/>
          </a:p>
        </p:txBody>
      </p:sp>
      <p:sp>
        <p:nvSpPr>
          <p:cNvPr id="4" name="regra Conclusão do projeto"/>
          <p:cNvSpPr/>
          <p:nvPr/>
        </p:nvSpPr>
        <p:spPr>
          <a:xfrm>
            <a:off x="548640" y="1371600"/>
            <a:ext cx="3611880" cy="2240280"/>
          </a:xfrm>
          <a:prstGeom prst="roundRect">
            <a:avLst>
              <a:gd name="adj" fmla="val 326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icone Conclusão do projeto"/>
          <p:cNvSpPr/>
          <p:nvPr/>
        </p:nvSpPr>
        <p:spPr>
          <a:xfrm>
            <a:off x="777240" y="160020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✓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1554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Conclusão do projeto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24028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Só conclui se tiver atividades e todas estiverem concluídas. Se houver pendência, recusa.</a:t>
            </a:r>
            <a:endParaRPr lang="en-US" sz="1500" dirty="0"/>
          </a:p>
        </p:txBody>
      </p:sp>
      <p:sp>
        <p:nvSpPr>
          <p:cNvPr id="9" name="regra Ativo ou inativo (setStatus)"/>
          <p:cNvSpPr/>
          <p:nvPr/>
        </p:nvSpPr>
        <p:spPr>
          <a:xfrm>
            <a:off x="4297680" y="1371600"/>
            <a:ext cx="3611880" cy="2240280"/>
          </a:xfrm>
          <a:prstGeom prst="roundRect">
            <a:avLst>
              <a:gd name="adj" fmla="val 326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icone Ativo ou inativo (setStatus)"/>
          <p:cNvSpPr/>
          <p:nvPr/>
        </p:nvSpPr>
        <p:spPr>
          <a:xfrm>
            <a:off x="4526280" y="160020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262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✓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5166360" y="1554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Ativo ou inativo (setStatus)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4526280" y="224028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Um método alterna projeto e atividade entre ativo e inativo. Nada é apagado: o histórico fica no banco.</a:t>
            </a:r>
            <a:endParaRPr lang="en-US" sz="1500" dirty="0"/>
          </a:p>
        </p:txBody>
      </p:sp>
      <p:sp>
        <p:nvSpPr>
          <p:cNvPr id="14" name="regra Inativação protegida"/>
          <p:cNvSpPr/>
          <p:nvPr/>
        </p:nvSpPr>
        <p:spPr>
          <a:xfrm>
            <a:off x="8046720" y="1371600"/>
            <a:ext cx="3566160" cy="2240280"/>
          </a:xfrm>
          <a:prstGeom prst="roundRect">
            <a:avLst>
              <a:gd name="adj" fmla="val 326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icone Inativação protegida"/>
          <p:cNvSpPr/>
          <p:nvPr/>
        </p:nvSpPr>
        <p:spPr>
          <a:xfrm>
            <a:off x="8275320" y="160020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7532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✓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8915400" y="15544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Inativação protegida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8275320" y="224028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Só desativa se não houver atividade em andamento. Reativar é livre.</a:t>
            </a:r>
            <a:endParaRPr lang="en-US" sz="1500" dirty="0"/>
          </a:p>
        </p:txBody>
      </p:sp>
      <p:sp>
        <p:nvSpPr>
          <p:cNvPr id="19" name="regra Projeto concluído é travado"/>
          <p:cNvSpPr/>
          <p:nvPr/>
        </p:nvSpPr>
        <p:spPr>
          <a:xfrm>
            <a:off x="548640" y="3840480"/>
            <a:ext cx="3611880" cy="2240280"/>
          </a:xfrm>
          <a:prstGeom prst="roundRect">
            <a:avLst>
              <a:gd name="adj" fmla="val 326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icone Projeto concluído é travado"/>
          <p:cNvSpPr/>
          <p:nvPr/>
        </p:nvSpPr>
        <p:spPr>
          <a:xfrm>
            <a:off x="777240" y="406908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7724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✓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1417320" y="4023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Projeto concluído é travado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777240" y="470916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Projeto concluído ou inativo não aceita novas atividades nem mudanças nelas.</a:t>
            </a:r>
            <a:endParaRPr lang="en-US" sz="1500" dirty="0"/>
          </a:p>
        </p:txBody>
      </p:sp>
      <p:sp>
        <p:nvSpPr>
          <p:cNvPr id="24" name="regra Dev assume atividade e projeto"/>
          <p:cNvSpPr/>
          <p:nvPr/>
        </p:nvSpPr>
        <p:spPr>
          <a:xfrm>
            <a:off x="4297680" y="3840480"/>
            <a:ext cx="3611880" cy="2240280"/>
          </a:xfrm>
          <a:prstGeom prst="roundRect">
            <a:avLst>
              <a:gd name="adj" fmla="val 326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icone Dev assume atividade e projeto"/>
          <p:cNvSpPr/>
          <p:nvPr/>
        </p:nvSpPr>
        <p:spPr>
          <a:xfrm>
            <a:off x="4526280" y="406908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52628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✓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5166360" y="4023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Dev assume atividade e projeto</a:t>
            </a:r>
            <a:endParaRPr 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4526280" y="470916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O desenvolvedor assume atividades e projetos, desde que sejam da sua equipe.</a:t>
            </a:r>
            <a:endParaRPr lang="en-US" sz="1500" dirty="0"/>
          </a:p>
        </p:txBody>
      </p:sp>
      <p:sp>
        <p:nvSpPr>
          <p:cNvPr id="29" name="regra Inativos fora das listas"/>
          <p:cNvSpPr/>
          <p:nvPr/>
        </p:nvSpPr>
        <p:spPr>
          <a:xfrm>
            <a:off x="8046720" y="3840480"/>
            <a:ext cx="3566160" cy="2240280"/>
          </a:xfrm>
          <a:prstGeom prst="roundRect">
            <a:avLst>
              <a:gd name="adj" fmla="val 326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icone Inativos fora das listas"/>
          <p:cNvSpPr/>
          <p:nvPr/>
        </p:nvSpPr>
        <p:spPr>
          <a:xfrm>
            <a:off x="8275320" y="406908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7532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✓</a:t>
            </a:r>
            <a:endParaRPr lang="en-US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8915400" y="40233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Inativos fora das listas</a:t>
            </a:r>
            <a:endParaRPr lang="en-US" sz="1700" dirty="0"/>
          </a:p>
        </p:txBody>
      </p:sp>
      <p:sp>
        <p:nvSpPr>
          <p:cNvPr id="33" name="Text 30"/>
          <p:cNvSpPr txBox="1"/>
          <p:nvPr/>
        </p:nvSpPr>
        <p:spPr>
          <a:xfrm>
            <a:off x="8275320" y="470916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Consultas mostram só projetos e atividades ativos.</a:t>
            </a:r>
            <a:endParaRPr lang="en-US" sz="15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3200" b="1" smtClean="0">
                <a:solidFill>
                  <a:schemeClr val="tx2"/>
                </a:solidFill>
              </a:rPr>
              <a:t>Regras de negócio: segurança e acesso</a:t>
            </a:r>
            <a:endParaRPr lang="en-US" sz="3200" dirty="0"/>
          </a:p>
        </p:txBody>
      </p:sp>
      <p:sp>
        <p:nvSpPr>
          <p:cNvPr id="4" name="regra Conclusão do projeto"/>
          <p:cNvSpPr/>
          <p:nvPr/>
        </p:nvSpPr>
        <p:spPr>
          <a:xfrm>
            <a:off x="548640" y="1371600"/>
            <a:ext cx="3611880" cy="2240280"/>
          </a:xfrm>
          <a:prstGeom prst="roundRect">
            <a:avLst>
              <a:gd name="adj" fmla="val 326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icone Conclusão do projeto"/>
          <p:cNvSpPr/>
          <p:nvPr/>
        </p:nvSpPr>
        <p:spPr>
          <a:xfrm>
            <a:off x="777240" y="160020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✓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1554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smtClean="0">
                <a:solidFill>
                  <a:schemeClr val="tx2"/>
                </a:solidFill>
              </a:rPr>
              <a:t>Login obrigatório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24028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500" smtClean="0">
                <a:solidFill>
                  <a:schemeClr val="tx1"/>
                </a:solidFill>
              </a:rPr>
              <a:t>Sem sessão, todo endpoint responde 401. Só o POST /auth/login fica aberto.</a:t>
            </a:r>
            <a:endParaRPr lang="en-US" sz="1500" dirty="0"/>
          </a:p>
        </p:txBody>
      </p:sp>
      <p:sp>
        <p:nvSpPr>
          <p:cNvPr id="9" name="regra Ativo ou inativo (setStatus)"/>
          <p:cNvSpPr/>
          <p:nvPr/>
        </p:nvSpPr>
        <p:spPr>
          <a:xfrm>
            <a:off x="4297680" y="1371600"/>
            <a:ext cx="3611880" cy="2240280"/>
          </a:xfrm>
          <a:prstGeom prst="roundRect">
            <a:avLst>
              <a:gd name="adj" fmla="val 326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icone Ativo ou inativo (setStatus)"/>
          <p:cNvSpPr/>
          <p:nvPr/>
        </p:nvSpPr>
        <p:spPr>
          <a:xfrm>
            <a:off x="4526280" y="160020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262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✓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5166360" y="1554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smtClean="0">
                <a:solidFill>
                  <a:schemeClr val="tx2"/>
                </a:solidFill>
              </a:rPr>
              <a:t>Senha protegida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4526280" y="224028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500" smtClean="0">
                <a:solidFill>
                  <a:schemeClr val="tx1"/>
                </a:solidFill>
              </a:rPr>
              <a:t>Gravada com BCrypt e nunca devolvida no JSON.</a:t>
            </a:r>
            <a:endParaRPr lang="en-US" sz="1500" dirty="0"/>
          </a:p>
        </p:txBody>
      </p:sp>
      <p:sp>
        <p:nvSpPr>
          <p:cNvPr id="14" name="regra Inativação protegida"/>
          <p:cNvSpPr/>
          <p:nvPr/>
        </p:nvSpPr>
        <p:spPr>
          <a:xfrm>
            <a:off x="8046720" y="1371600"/>
            <a:ext cx="3566160" cy="2240280"/>
          </a:xfrm>
          <a:prstGeom prst="roundRect">
            <a:avLst>
              <a:gd name="adj" fmla="val 326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icone Inativação protegida"/>
          <p:cNvSpPr/>
          <p:nvPr/>
        </p:nvSpPr>
        <p:spPr>
          <a:xfrm>
            <a:off x="8275320" y="160020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7532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✓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8915400" y="15544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smtClean="0">
                <a:solidFill>
                  <a:schemeClr val="tx2"/>
                </a:solidFill>
              </a:rPr>
              <a:t>E-mail único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8275320" y="224028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500" smtClean="0">
                <a:solidFill>
                  <a:schemeClr val="tx1"/>
                </a:solidFill>
              </a:rPr>
              <a:t>O e-mail é o login: cadastro com e-mail repetido é recusado.</a:t>
            </a:r>
            <a:endParaRPr lang="en-US" sz="1500" dirty="0"/>
          </a:p>
        </p:txBody>
      </p:sp>
      <p:sp>
        <p:nvSpPr>
          <p:cNvPr id="19" name="regra Projeto concluído é travado"/>
          <p:cNvSpPr/>
          <p:nvPr/>
        </p:nvSpPr>
        <p:spPr>
          <a:xfrm>
            <a:off x="548640" y="3840480"/>
            <a:ext cx="3611880" cy="2240280"/>
          </a:xfrm>
          <a:prstGeom prst="roundRect">
            <a:avLst>
              <a:gd name="adj" fmla="val 326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icone Projeto concluído é travado"/>
          <p:cNvSpPr/>
          <p:nvPr/>
        </p:nvSpPr>
        <p:spPr>
          <a:xfrm>
            <a:off x="777240" y="406908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7724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✓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1417320" y="4023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smtClean="0">
                <a:solidFill>
                  <a:schemeClr val="tx2"/>
                </a:solidFill>
              </a:rPr>
              <a:t>Senha no cadastro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777240" y="470916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500" smtClean="0">
                <a:solidFill>
                  <a:schemeClr val="tx1"/>
                </a:solidFill>
              </a:rPr>
              <a:t>POST /gestor/salvar e /dev/salvar passam a exigir a senha.</a:t>
            </a:r>
            <a:endParaRPr lang="en-US" sz="1500" dirty="0"/>
          </a:p>
        </p:txBody>
      </p:sp>
      <p:sp>
        <p:nvSpPr>
          <p:cNvPr id="24" name="regra Dev assume atividade e projeto"/>
          <p:cNvSpPr/>
          <p:nvPr/>
        </p:nvSpPr>
        <p:spPr>
          <a:xfrm>
            <a:off x="4297680" y="3840480"/>
            <a:ext cx="3611880" cy="2240280"/>
          </a:xfrm>
          <a:prstGeom prst="roundRect">
            <a:avLst>
              <a:gd name="adj" fmla="val 326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icone Dev assume atividade e projeto"/>
          <p:cNvSpPr/>
          <p:nvPr/>
        </p:nvSpPr>
        <p:spPr>
          <a:xfrm>
            <a:off x="4526280" y="406908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52628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✓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5166360" y="4023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smtClean="0">
                <a:solidFill>
                  <a:schemeClr val="tx2"/>
                </a:solidFill>
              </a:rPr>
              <a:t>GESTOR pode tudo</a:t>
            </a:r>
            <a:endParaRPr 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4526280" y="470916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500" smtClean="0">
                <a:solidFill>
                  <a:schemeClr val="tx1"/>
                </a:solidFill>
              </a:rPr>
              <a:t>Cadastra, atualiza, atribui e ativa ou inativa registros.</a:t>
            </a:r>
            <a:endParaRPr lang="en-US" sz="1500" dirty="0"/>
          </a:p>
        </p:txBody>
      </p:sp>
      <p:sp>
        <p:nvSpPr>
          <p:cNvPr id="29" name="regra Inativos fora das listas"/>
          <p:cNvSpPr/>
          <p:nvPr/>
        </p:nvSpPr>
        <p:spPr>
          <a:xfrm>
            <a:off x="8046720" y="3840480"/>
            <a:ext cx="3566160" cy="2240280"/>
          </a:xfrm>
          <a:prstGeom prst="roundRect">
            <a:avLst>
              <a:gd name="adj" fmla="val 326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icone Inativos fora das listas"/>
          <p:cNvSpPr/>
          <p:nvPr/>
        </p:nvSpPr>
        <p:spPr>
          <a:xfrm>
            <a:off x="8275320" y="406908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7532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✓</a:t>
            </a:r>
            <a:endParaRPr lang="en-US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8915400" y="40233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smtClean="0">
                <a:solidFill>
                  <a:schemeClr val="tx2"/>
                </a:solidFill>
              </a:rPr>
              <a:t>DESENVOLVEDOR</a:t>
            </a:r>
            <a:endParaRPr lang="en-US" sz="1700" dirty="0"/>
          </a:p>
        </p:txBody>
      </p:sp>
      <p:sp>
        <p:nvSpPr>
          <p:cNvPr id="33" name="Text 30"/>
          <p:cNvSpPr txBox="1"/>
          <p:nvPr/>
        </p:nvSpPr>
        <p:spPr>
          <a:xfrm>
            <a:off x="8275320" y="470916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500" smtClean="0">
                <a:solidFill>
                  <a:schemeClr val="tx1"/>
                </a:solidFill>
              </a:rPr>
              <a:t>Consulta tudo, assume atividade e muda a situação dela. O resto responde 403.</a:t>
            </a:r>
            <a:endParaRPr lang="en-US" sz="15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2334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3200" b="1" smtClean="0">
                <a:solidFill>
                  <a:schemeClr val="tx2"/>
                </a:solidFill>
              </a:rPr>
              <a:t>Um login atravessando as camadas</a:t>
            </a:r>
            <a:endParaRPr lang="en-US" sz="3200" dirty="0"/>
          </a:p>
        </p:txBody>
      </p:sp>
      <p:sp>
        <p:nvSpPr>
          <p:cNvPr id="4" name="passo 1"/>
          <p:cNvSpPr/>
          <p:nvPr/>
        </p:nvSpPr>
        <p:spPr>
          <a:xfrm>
            <a:off x="548640" y="1417320"/>
            <a:ext cx="1106424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num 1"/>
          <p:cNvSpPr/>
          <p:nvPr/>
        </p:nvSpPr>
        <p:spPr>
          <a:xfrm>
            <a:off x="731520" y="155448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14173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smtClean="0">
                <a:solidFill>
                  <a:schemeClr val="tx2"/>
                </a:solidFill>
              </a:rPr>
              <a:t>Requisição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3383280" y="14173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smtClean="0">
                <a:solidFill>
                  <a:schemeClr val="tx1"/>
                </a:solidFill>
              </a:rPr>
              <a:t>POST /auth/login com email e senha, enviados como formulário</a:t>
            </a:r>
            <a:endParaRPr lang="en-US" sz="1500" dirty="0"/>
          </a:p>
        </p:txBody>
      </p:sp>
      <p:sp>
        <p:nvSpPr>
          <p:cNvPr id="9" name="passo 2"/>
          <p:cNvSpPr/>
          <p:nvPr/>
        </p:nvSpPr>
        <p:spPr>
          <a:xfrm>
            <a:off x="548640" y="2368296"/>
            <a:ext cx="1106424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num 2"/>
          <p:cNvSpPr/>
          <p:nvPr/>
        </p:nvSpPr>
        <p:spPr>
          <a:xfrm>
            <a:off x="731520" y="2505456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2505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508760" y="2368296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smtClean="0">
                <a:solidFill>
                  <a:schemeClr val="tx2"/>
                </a:solidFill>
              </a:rPr>
              <a:t>Service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383280" y="2368296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smtClean="0">
                <a:solidFill>
                  <a:schemeClr val="tx1"/>
                </a:solidFill>
              </a:rPr>
              <a:t>UsuarioService busca o usuário pelo e-mail no banco (UserDetailsService)</a:t>
            </a:r>
            <a:endParaRPr lang="en-US" sz="1500" dirty="0"/>
          </a:p>
        </p:txBody>
      </p:sp>
      <p:sp>
        <p:nvSpPr>
          <p:cNvPr id="14" name="passo 3"/>
          <p:cNvSpPr/>
          <p:nvPr/>
        </p:nvSpPr>
        <p:spPr>
          <a:xfrm>
            <a:off x="548640" y="3319272"/>
            <a:ext cx="1106424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num 3"/>
          <p:cNvSpPr/>
          <p:nvPr/>
        </p:nvSpPr>
        <p:spPr>
          <a:xfrm>
            <a:off x="731520" y="3456432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31520" y="34564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1508760" y="331927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smtClean="0">
                <a:solidFill>
                  <a:schemeClr val="tx2"/>
                </a:solidFill>
              </a:rPr>
              <a:t>BCrypt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3383280" y="331927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smtClean="0">
                <a:solidFill>
                  <a:schemeClr val="tx1"/>
                </a:solidFill>
              </a:rPr>
              <a:t>Compara a senha digitada com o hash guardado em usuario.senha</a:t>
            </a:r>
            <a:endParaRPr lang="en-US" sz="1500" dirty="0"/>
          </a:p>
        </p:txBody>
      </p:sp>
      <p:sp>
        <p:nvSpPr>
          <p:cNvPr id="19" name="passo 4"/>
          <p:cNvSpPr/>
          <p:nvPr/>
        </p:nvSpPr>
        <p:spPr>
          <a:xfrm>
            <a:off x="548640" y="4270248"/>
            <a:ext cx="1106424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num 4"/>
          <p:cNvSpPr/>
          <p:nvPr/>
        </p:nvSpPr>
        <p:spPr>
          <a:xfrm>
            <a:off x="731520" y="440740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31520" y="4407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1508760" y="427024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smtClean="0">
                <a:solidFill>
                  <a:schemeClr val="tx2"/>
                </a:solidFill>
              </a:rPr>
              <a:t>Sessão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3383280" y="427024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smtClean="0">
                <a:solidFill>
                  <a:schemeClr val="tx1"/>
                </a:solidFill>
              </a:rPr>
              <a:t>Senha certa: o Spring Security cria a sessão (cookie JSESSIONID). Errada: 401</a:t>
            </a:r>
            <a:endParaRPr lang="en-US" sz="1500" dirty="0"/>
          </a:p>
        </p:txBody>
      </p:sp>
      <p:sp>
        <p:nvSpPr>
          <p:cNvPr id="24" name="passo 5"/>
          <p:cNvSpPr/>
          <p:nvPr/>
        </p:nvSpPr>
        <p:spPr>
          <a:xfrm>
            <a:off x="548640" y="5221224"/>
            <a:ext cx="1106424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num 5"/>
          <p:cNvSpPr/>
          <p:nvPr/>
        </p:nvSpPr>
        <p:spPr>
          <a:xfrm>
            <a:off x="731520" y="5358384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31520" y="53583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1508760" y="5221224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smtClean="0">
                <a:solidFill>
                  <a:schemeClr val="tx2"/>
                </a:solidFill>
              </a:rPr>
              <a:t>Filtro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3383280" y="5221224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smtClean="0">
                <a:solidFill>
                  <a:schemeClr val="tx1"/>
                </a:solidFill>
              </a:rPr>
              <a:t>Nas próximas chamadas, confere a sessão e o perfil antes de chegar ao Controller</a:t>
            </a:r>
            <a:endParaRPr lang="en-US" sz="15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064489"/>
      </p:ext>
    </p:extLst>
  </p:cSld>
  <p:clrMapOvr>
    <a:masterClrMapping/>
  </p:clrMapOvr>
</p:sld>
</file>

<file path=ppt/theme/theme1.xml><?xml version="1.0" encoding="utf-8"?>
<a:theme xmlns:a="http://schemas.openxmlformats.org/drawingml/2006/main" name="Gestao de Projetos">
  <a:themeElements>
    <a:clrScheme name="Gestao de Projetos">
      <a:dk1>
        <a:srgbClr val="1B2B2E"/>
      </a:dk1>
      <a:lt1>
        <a:srgbClr val="FFFFFF"/>
      </a:lt1>
      <a:dk2>
        <a:srgbClr val="0F2A2E"/>
      </a:dk2>
      <a:lt2>
        <a:srgbClr val="F2F6F5"/>
      </a:lt2>
      <a:accent1>
        <a:srgbClr val="0E7C7B"/>
      </a:accent1>
      <a:accent2>
        <a:srgbClr val="E8A33D"/>
      </a:accent2>
      <a:accent3>
        <a:srgbClr val="D1495B"/>
      </a:accent3>
      <a:accent4>
        <a:srgbClr val="3D5A80"/>
      </a:accent4>
      <a:accent5>
        <a:srgbClr val="6A9C89"/>
      </a:accent5>
      <a:accent6>
        <a:srgbClr val="8A8F98"/>
      </a:accent6>
      <a:hlink>
        <a:srgbClr val="0E7C7B"/>
      </a:hlink>
      <a:folHlink>
        <a:srgbClr val="6A9C89"/>
      </a:folHlink>
    </a:clrScheme>
    <a:fontScheme name="Gestao de Projeto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1406</Words>
  <Application>Microsoft Office PowerPoint</Application>
  <PresentationFormat>Widescreen</PresentationFormat>
  <Paragraphs>278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Gestao de Projetos</vt:lpstr>
      <vt:lpstr>Modelagem do Sistema</vt:lpstr>
      <vt:lpstr>Seis entidades resolvem o problema</vt:lpstr>
      <vt:lpstr>Modelagem: atributos e tipos de cada entidade</vt:lpstr>
      <vt:lpstr>Tipos de dados e enums escolhidos</vt:lpstr>
      <vt:lpstr>Relacionamento entre as entidades</vt:lpstr>
      <vt:lpstr>Como cada relacionamento foi mapeado</vt:lpstr>
      <vt:lpstr>Organização das camadas</vt:lpstr>
      <vt:lpstr>Um pedido atravessando as camadas</vt:lpstr>
      <vt:lpstr>Regras de negócio: integridade dos dados</vt:lpstr>
      <vt:lpstr>Regras de negócio: ciclo de vida</vt:lpstr>
      <vt:lpstr>Regras de negócio: segurança e acesso</vt:lpstr>
      <vt:lpstr>Um login atravessando as camadas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Modelagem do Sistema</dc:title>
  <dc:subject>PptxGenJS Presentation</dc:subject>
  <dc:creator>Grupo - Trabalho Prático Spring Boot</dc:creator>
  <cp:lastModifiedBy>Gabriel Marcos</cp:lastModifiedBy>
  <cp:revision>2</cp:revision>
  <dcterms:created xsi:type="dcterms:W3CDTF">2026-10-08T22:24:13Z</dcterms:created>
  <dcterms:modified xsi:type="dcterms:W3CDTF">2026-10-23T00:32:11Z</dcterms:modified>
</cp:coreProperties>
</file>