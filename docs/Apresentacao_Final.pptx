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3" r:id="rId10"/>
    <p:sldId id="274" r:id="rId11"/>
    <p:sldId id="263" r:id="rId12"/>
    <p:sldId id="264" r:id="rId13"/>
    <p:sldId id="265" r:id="rId14"/>
    <p:sldId id="266" r:id="rId15"/>
    <p:sldId id="275" r:id="rId16"/>
    <p:sldId id="267" r:id="rId17"/>
    <p:sldId id="268" r:id="rId18"/>
    <p:sldId id="269" r:id="rId19"/>
    <p:sldId id="270" r:id="rId20"/>
    <p:sldId id="276" r:id="rId21"/>
    <p:sldId id="271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DE758BC-6D41-D643-B9A8-9ADEACA680A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72"/>
            <p14:sldId id="273"/>
            <p14:sldId id="274"/>
            <p14:sldId id="263"/>
            <p14:sldId id="264"/>
            <p14:sldId id="265"/>
            <p14:sldId id="266"/>
            <p14:sldId id="275"/>
            <p14:sldId id="267"/>
            <p14:sldId id="268"/>
            <p14:sldId id="269"/>
            <p14:sldId id="270"/>
            <p14:sldId id="276"/>
            <p14:sldId id="271"/>
          </p14:sldIdLst>
        </p14:section>
        <p14:section name="Projeto" id="{1B747805-756B-17B8-FE3B-8A7E316E6908}">
          <p14:sldIdLst/>
        </p14:section>
        <p14:section name="Modelagem" id="{429E5AE2-B79E-6C53-0C91-95DE8DB9EAD8}">
          <p14:sldIdLst/>
        </p14:section>
        <p14:section name="Arquitetura" id="{74EC65ED-ED6B-C5F0-285D-E52DB92D8AFD}">
          <p14:sldIdLst/>
        </p14:section>
        <p14:section name="API" id="{75687EA3-DF0C-2606-84C8-AE9E15EEB8DF}">
          <p14:sldIdLst/>
        </p14:section>
        <p14:section name="Demonstração" id="{214C4D83-1F05-0F77-2520-E88C2C40E2CE}">
          <p14:sldIdLst/>
        </p14:section>
        <p14:section name="Banco de dados" id="{67B66727-4620-7D3E-114C-43328D2F40F5}">
          <p14:sldIdLst/>
        </p14:section>
        <p14:section name="Encerramento" id="{6FE618EA-907A-1590-E236-69FC59752FE2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3155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 o grupo e o tema. Tempo sugerido: 30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Contexto: a empresa registra projetos em planilhas e mensagens e não sabe o que está pendente. A API centraliza tudo. Depois, seguir os oito itens exigidos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mtClean="0"/>
              <a:t>Mostrar a árvore no editor. Um pacote por camada, como em aula. O pacote Config guarda a segurança (SecurityConfig), a documentação do Swagger e a carga de dados de exemplo; a pasta docs guarda os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entidades. Usuario é abstrata, com Gestor e Desenvolvedor como filhas. Projeto e Atividade são o núcleo do enunciado.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Chave estrangeira no lado N. O ponto principal: Projeto 1—N Atividade, com atividade obrigatoriamente ligada a um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Controller só delega. As regras ficam no Service. O Repository fala com o PostgreSQL.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Citar as quatro do enunciado e as de apoio. Todas estão nos Services e são recusadas com uma mensagem clara.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mtClean="0"/>
              <a:t>O login não passa por um Controller: o próprio Spring Security trata o POST /auth/login. O perfil vem do tipo do usuário: GestorEquipe vira GESTOR e Desenvolvedor vira DESENVOLVEDOR.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42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mtClean="0"/>
              <a:t>A permissão é conferida no backend em toda requisição. O desenvolvedor consulta tudo e cuida da situação da atividade; cadastros e alterações são do gestor.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600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mtClean="0"/>
              <a:t>O código diz o que aconteceu com a requisição. 401 é sobre quem você é (sem login); 403 é sobre o que você pode fazer (perfil sem permissão). No Swagger, olhar sempre o Code em Server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601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Doze endpoints de projeto. Destacar comPendencias e progresso como consultas específicas e o setStatus, que alterna ativo e inativo.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Doze endpoints de atividade. A linha em destaque é a consulta adicional exigida pelo enunciado: GET /atividade/atrasadas.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Endpoints de apoio, necessários para formar equipes e atribuir responsáveis.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Justificar a utilidade: o gestor vê de imediato onde agir primeiro. É uma consulta JPQL no repository, não um listar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mtClean="0"/>
              <a:t>Fazer pelo Swagger: o login fica em auth-controller, e GET /auth/me mostra quem está logado. O 403 mostra que o backend bloqueia mesmo com o usuário logado. Terminar logado como gestor para seguir o roteiro.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2952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mtClean="0"/>
              <a:t>Executar na ordem pelo Swagger (/swagger-ui.html), depois de fazer login como gestor em POST /auth/login (slide anterior). Sem login a API responde 401. As respostas esperadas partem da carga inicial de dados, em um banco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o Service barra cada violação. Nenhuma alteração é gravada quando a regra falha.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o pgAdmin ou o psql e mostrar as tabelas após a demonstração. Os valores abaixo são da carga inicial, em um banco novo.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enunciado diz que não existe uma única implementação correta, mas as decisões precisam ser justificadas. Todos devem saber responder.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mtClean="0"/>
              <a:t>Estas decisões também precisam ser justificadas. A segurança foi somada ao projeto sem mudar as regras de negócio dos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0723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pode ser questionado individualmente. Todos devem saber explicar qualquer parte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API de Gestão de Projetos e Atividades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Trabalho Prático · Desenvolvimento de API com Spring Boot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mtClean="0">
                <a:solidFill>
                  <a:schemeClr val="accent2"/>
                </a:solidFill>
              </a:rPr>
              <a:t>Java · Spring Boot · Spring Data JPA · Spring Security · PostgreSQL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 problema e o roteiro da apresentação</a:t>
            </a:r>
            <a:endParaRPr lang="en-US" sz="3200" dirty="0"/>
          </a:p>
        </p:txBody>
      </p:sp>
      <p:sp>
        <p:nvSpPr>
          <p:cNvPr id="4" name="problema"/>
          <p:cNvSpPr/>
          <p:nvPr/>
        </p:nvSpPr>
        <p:spPr>
          <a:xfrm>
            <a:off x="548640" y="1371600"/>
            <a:ext cx="4937760" cy="4754880"/>
          </a:xfrm>
          <a:prstGeom prst="roundRect">
            <a:avLst>
              <a:gd name="adj" fmla="val 15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4389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b="1" smtClean="0">
                <a:solidFill>
                  <a:schemeClr val="tx2"/>
                </a:solidFill>
              </a:rPr>
              <a:t>O problema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pt-BR" sz="1600" smtClean="0">
                <a:solidFill>
                  <a:schemeClr val="tx1"/>
                </a:solidFill>
              </a:rPr>
              <a:t>Projetos e atividades vivem em planilhas, mensagens e anotações.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pt-BR" sz="1600" smtClean="0">
                <a:solidFill>
                  <a:schemeClr val="tx1"/>
                </a:solidFill>
              </a:rPr>
              <a:t>Ninguém sabe o que está pendente, concluído ou mais urgente.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b="1" smtClean="0">
                <a:solidFill>
                  <a:schemeClr val="accent1"/>
                </a:solidFill>
              </a:rPr>
              <a:t>A solução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pt-BR" sz="1600" smtClean="0">
                <a:solidFill>
                  <a:schemeClr val="tx1"/>
                </a:solidFill>
              </a:rPr>
              <a:t>Uma API REST que registra projetos, acompanha as atividades de cada um e aplica as regras da empresa. Cada usuário entra com e-mail e senha, e o perfil define o que ele pode fazer.</a:t>
            </a:r>
            <a:endParaRPr lang="en-US" sz="2000" dirty="0"/>
          </a:p>
        </p:txBody>
      </p:sp>
      <p:sp>
        <p:nvSpPr>
          <p:cNvPr id="6" name="roteiro 1"/>
          <p:cNvSpPr/>
          <p:nvPr/>
        </p:nvSpPr>
        <p:spPr>
          <a:xfrm>
            <a:off x="5760720" y="1371600"/>
            <a:ext cx="2880360" cy="1069848"/>
          </a:xfrm>
          <a:prstGeom prst="roundRect">
            <a:avLst>
              <a:gd name="adj" fmla="val 68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n1"/>
          <p:cNvSpPr txBox="1"/>
          <p:nvPr/>
        </p:nvSpPr>
        <p:spPr>
          <a:xfrm>
            <a:off x="5897880" y="164592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1371600"/>
            <a:ext cx="20116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Estrutura do projeto</a:t>
            </a:r>
            <a:endParaRPr lang="en-US" sz="1400" dirty="0"/>
          </a:p>
        </p:txBody>
      </p:sp>
      <p:sp>
        <p:nvSpPr>
          <p:cNvPr id="9" name="roteiro 2"/>
          <p:cNvSpPr/>
          <p:nvPr/>
        </p:nvSpPr>
        <p:spPr>
          <a:xfrm>
            <a:off x="8732520" y="1371600"/>
            <a:ext cx="2880360" cy="1069848"/>
          </a:xfrm>
          <a:prstGeom prst="roundRect">
            <a:avLst>
              <a:gd name="adj" fmla="val 68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n2"/>
          <p:cNvSpPr txBox="1"/>
          <p:nvPr/>
        </p:nvSpPr>
        <p:spPr>
          <a:xfrm>
            <a:off x="8869680" y="1645920"/>
            <a:ext cx="50292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509760" y="1371600"/>
            <a:ext cx="20116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Modelagem das entidades</a:t>
            </a:r>
            <a:endParaRPr lang="en-US" sz="1400" dirty="0"/>
          </a:p>
        </p:txBody>
      </p:sp>
      <p:sp>
        <p:nvSpPr>
          <p:cNvPr id="12" name="roteiro 3"/>
          <p:cNvSpPr/>
          <p:nvPr/>
        </p:nvSpPr>
        <p:spPr>
          <a:xfrm>
            <a:off x="5760720" y="2578608"/>
            <a:ext cx="2880360" cy="1069848"/>
          </a:xfrm>
          <a:prstGeom prst="roundRect">
            <a:avLst>
              <a:gd name="adj" fmla="val 68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n3"/>
          <p:cNvSpPr txBox="1"/>
          <p:nvPr/>
        </p:nvSpPr>
        <p:spPr>
          <a:xfrm>
            <a:off x="5897880" y="2852928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2578608"/>
            <a:ext cx="20116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Relacionamentos</a:t>
            </a:r>
            <a:endParaRPr lang="en-US" sz="1400" dirty="0"/>
          </a:p>
        </p:txBody>
      </p:sp>
      <p:sp>
        <p:nvSpPr>
          <p:cNvPr id="15" name="roteiro 4"/>
          <p:cNvSpPr/>
          <p:nvPr/>
        </p:nvSpPr>
        <p:spPr>
          <a:xfrm>
            <a:off x="8732520" y="2578608"/>
            <a:ext cx="2880360" cy="1069848"/>
          </a:xfrm>
          <a:prstGeom prst="roundRect">
            <a:avLst>
              <a:gd name="adj" fmla="val 68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n4"/>
          <p:cNvSpPr txBox="1"/>
          <p:nvPr/>
        </p:nvSpPr>
        <p:spPr>
          <a:xfrm>
            <a:off x="8869680" y="2852928"/>
            <a:ext cx="50292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509760" y="2578608"/>
            <a:ext cx="20116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Organização das camadas</a:t>
            </a:r>
            <a:endParaRPr lang="en-US" sz="1400" dirty="0"/>
          </a:p>
        </p:txBody>
      </p:sp>
      <p:sp>
        <p:nvSpPr>
          <p:cNvPr id="18" name="roteiro 5"/>
          <p:cNvSpPr/>
          <p:nvPr/>
        </p:nvSpPr>
        <p:spPr>
          <a:xfrm>
            <a:off x="5760720" y="3785616"/>
            <a:ext cx="2880360" cy="1069848"/>
          </a:xfrm>
          <a:prstGeom prst="roundRect">
            <a:avLst>
              <a:gd name="adj" fmla="val 68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n5"/>
          <p:cNvSpPr txBox="1"/>
          <p:nvPr/>
        </p:nvSpPr>
        <p:spPr>
          <a:xfrm>
            <a:off x="5897880" y="4059936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537960" y="3785616"/>
            <a:ext cx="20116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Regras de negócio</a:t>
            </a:r>
            <a:endParaRPr lang="en-US" sz="1400" dirty="0"/>
          </a:p>
        </p:txBody>
      </p:sp>
      <p:sp>
        <p:nvSpPr>
          <p:cNvPr id="21" name="roteiro 6"/>
          <p:cNvSpPr/>
          <p:nvPr/>
        </p:nvSpPr>
        <p:spPr>
          <a:xfrm>
            <a:off x="8732520" y="3785616"/>
            <a:ext cx="2880360" cy="1069848"/>
          </a:xfrm>
          <a:prstGeom prst="roundRect">
            <a:avLst>
              <a:gd name="adj" fmla="val 68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n6"/>
          <p:cNvSpPr txBox="1"/>
          <p:nvPr/>
        </p:nvSpPr>
        <p:spPr>
          <a:xfrm>
            <a:off x="8869680" y="4059936"/>
            <a:ext cx="50292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509760" y="3785616"/>
            <a:ext cx="20116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mtClean="0">
                <a:solidFill>
                  <a:schemeClr val="tx2"/>
                </a:solidFill>
              </a:rPr>
              <a:t>Segurança e login</a:t>
            </a:r>
            <a:endParaRPr lang="en-US" sz="1400" dirty="0"/>
          </a:p>
        </p:txBody>
      </p:sp>
      <p:sp>
        <p:nvSpPr>
          <p:cNvPr id="24" name="roteiro 7"/>
          <p:cNvSpPr/>
          <p:nvPr/>
        </p:nvSpPr>
        <p:spPr>
          <a:xfrm>
            <a:off x="5760720" y="4992624"/>
            <a:ext cx="2880360" cy="1069848"/>
          </a:xfrm>
          <a:prstGeom prst="roundRect">
            <a:avLst>
              <a:gd name="adj" fmla="val 68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n7"/>
          <p:cNvSpPr txBox="1"/>
          <p:nvPr/>
        </p:nvSpPr>
        <p:spPr>
          <a:xfrm>
            <a:off x="5897880" y="5266944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4992624"/>
            <a:ext cx="20116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smtClean="0">
                <a:solidFill>
                  <a:schemeClr val="tx2"/>
                </a:solidFill>
              </a:rPr>
              <a:t>Endpoints, consulta adicional e API</a:t>
            </a:r>
            <a:endParaRPr lang="en-US" sz="1400" dirty="0"/>
          </a:p>
        </p:txBody>
      </p:sp>
      <p:sp>
        <p:nvSpPr>
          <p:cNvPr id="27" name="roteiro 8"/>
          <p:cNvSpPr/>
          <p:nvPr/>
        </p:nvSpPr>
        <p:spPr>
          <a:xfrm>
            <a:off x="8732520" y="4992624"/>
            <a:ext cx="2880360" cy="1069848"/>
          </a:xfrm>
          <a:prstGeom prst="roundRect">
            <a:avLst>
              <a:gd name="adj" fmla="val 68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n8"/>
          <p:cNvSpPr txBox="1"/>
          <p:nvPr/>
        </p:nvSpPr>
        <p:spPr>
          <a:xfrm>
            <a:off x="8869680" y="5266944"/>
            <a:ext cx="50292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509760" y="4992624"/>
            <a:ext cx="20116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mtClean="0">
                <a:solidFill>
                  <a:schemeClr val="tx2"/>
                </a:solidFill>
              </a:rPr>
              <a:t>Dados, decisões e perguntas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Estrutura do projeto</a:t>
            </a:r>
            <a:endParaRPr lang="en-US" sz="3200" dirty="0"/>
          </a:p>
        </p:txBody>
      </p:sp>
      <p:sp>
        <p:nvSpPr>
          <p:cNvPr id="4" name="arvore"/>
          <p:cNvSpPr/>
          <p:nvPr/>
        </p:nvSpPr>
        <p:spPr>
          <a:xfrm>
            <a:off x="548640" y="1371600"/>
            <a:ext cx="6035040" cy="4800600"/>
          </a:xfrm>
          <a:prstGeom prst="roundRect">
            <a:avLst>
              <a:gd name="adj" fmla="val 15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fundo arvore"/>
          <p:cNvSpPr/>
          <p:nvPr/>
        </p:nvSpPr>
        <p:spPr>
          <a:xfrm>
            <a:off x="548640" y="1371600"/>
            <a:ext cx="6035040" cy="48006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45920"/>
            <a:ext cx="55778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smtClean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software/</a:t>
            </a:r>
            <a:endParaRPr lang="en-US" sz="1400" dirty="0"/>
          </a:p>
          <a:p>
            <a:pPr marL="0" indent="0">
              <a:buNone/>
            </a:pPr>
            <a:r>
              <a:rPr lang="en-US" sz="1400" smtClean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src/main/java/.../software/</a:t>
            </a:r>
            <a:endParaRPr lang="en-US" sz="1400" dirty="0"/>
          </a:p>
          <a:p>
            <a:pPr marL="0" indent="0">
              <a:buNone/>
            </a:pPr>
            <a:r>
              <a:rPr lang="en-US" sz="1400" smtClean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Controllers/   6 controllers (HTTP)</a:t>
            </a:r>
            <a:endParaRPr lang="en-US" sz="1400" dirty="0"/>
          </a:p>
          <a:p>
            <a:pPr marL="0" indent="0">
              <a:buNone/>
            </a:pPr>
            <a:r>
              <a:rPr lang="en-US" sz="1400" smtClean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Services/      6 services (regras)</a:t>
            </a:r>
            <a:endParaRPr lang="en-US" sz="1400" dirty="0"/>
          </a:p>
          <a:p>
            <a:pPr marL="0" indent="0">
              <a:buNone/>
            </a:pPr>
            <a:r>
              <a:rPr lang="en-US" sz="1400" smtClean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Repositories/  6 interfaces JPA</a:t>
            </a:r>
            <a:endParaRPr lang="en-US" sz="1400" dirty="0"/>
          </a:p>
          <a:p>
            <a:pPr marL="0" indent="0">
              <a:buNone/>
            </a:pPr>
            <a:r>
              <a:rPr lang="en-US" sz="1400" smtClean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Entities/      6 entidades</a:t>
            </a:r>
            <a:endParaRPr lang="en-US" sz="1400" dirty="0"/>
          </a:p>
          <a:p>
            <a:pPr marL="0" indent="0">
              <a:buNone/>
            </a:pPr>
            <a:r>
              <a:rPr lang="en-US" sz="1400" smtClean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DTOs/          usuário logado</a:t>
            </a:r>
            <a:endParaRPr lang="en-US" sz="1400" dirty="0"/>
          </a:p>
          <a:p>
            <a:pPr marL="0" indent="0">
              <a:buNone/>
            </a:pPr>
            <a:r>
              <a:rPr lang="en-US" sz="1400" smtClean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Enums/         3 enums</a:t>
            </a:r>
            <a:endParaRPr lang="en-US" sz="1400" dirty="0"/>
          </a:p>
          <a:p>
            <a:pPr marL="0" indent="0">
              <a:buNone/>
            </a:pPr>
            <a:r>
              <a:rPr lang="en-US" sz="1400" smtClean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Config/        segurança, Swagger, dados</a:t>
            </a:r>
            <a:endParaRPr lang="en-US" sz="1400" dirty="0"/>
          </a:p>
          <a:p>
            <a:pPr marL="0" indent="0">
              <a:buNone/>
            </a:pPr>
            <a:r>
              <a:rPr lang="en-US" sz="1400" smtClean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SoftwareApplication.java</a:t>
            </a:r>
            <a:endParaRPr lang="en-US" sz="1400" dirty="0"/>
          </a:p>
          <a:p>
            <a:pPr marL="0" indent="0">
              <a:buNone/>
            </a:pPr>
            <a:r>
              <a:rPr lang="en-US" sz="1400" smtClean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src/main/resources/application.properties</a:t>
            </a:r>
            <a:endParaRPr lang="en-US" sz="1400" dirty="0"/>
          </a:p>
          <a:p>
            <a:pPr marL="0" indent="0">
              <a:buNone/>
            </a:pPr>
            <a:r>
              <a:rPr lang="en-US" sz="1400" smtClean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docs/             slides do trabalho</a:t>
            </a:r>
            <a:endParaRPr lang="en-US" sz="1400" dirty="0"/>
          </a:p>
          <a:p>
            <a:pPr marL="0" indent="0">
              <a:buNone/>
            </a:pPr>
            <a:r>
              <a:rPr lang="en-US" sz="1400" smtClean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README.md         visão geral</a:t>
            </a:r>
          </a:p>
          <a:p>
            <a:pPr marL="0" indent="0">
              <a:buNone/>
            </a:pPr>
            <a:r>
              <a:rPr lang="en-US" sz="1400" smtClean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pom.xml           dependências</a:t>
            </a:r>
            <a:endParaRPr lang="en-US" sz="1400" dirty="0"/>
          </a:p>
        </p:txBody>
      </p:sp>
      <p:sp>
        <p:nvSpPr>
          <p:cNvPr id="7" name="stack Java 17"/>
          <p:cNvSpPr/>
          <p:nvPr/>
        </p:nvSpPr>
        <p:spPr>
          <a:xfrm>
            <a:off x="6858000" y="1371600"/>
            <a:ext cx="4754880" cy="698500"/>
          </a:xfrm>
          <a:prstGeom prst="roundRect">
            <a:avLst>
              <a:gd name="adj" fmla="val 86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086600" y="1371600"/>
            <a:ext cx="228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Java 17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281160" y="1371600"/>
            <a:ext cx="219456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linguagem</a:t>
            </a:r>
            <a:endParaRPr lang="en-US" sz="1400" dirty="0"/>
          </a:p>
        </p:txBody>
      </p:sp>
      <p:sp>
        <p:nvSpPr>
          <p:cNvPr id="10" name="stack Spring Boot"/>
          <p:cNvSpPr/>
          <p:nvPr/>
        </p:nvSpPr>
        <p:spPr>
          <a:xfrm>
            <a:off x="6858000" y="2192020"/>
            <a:ext cx="4754880" cy="698500"/>
          </a:xfrm>
          <a:prstGeom prst="roundRect">
            <a:avLst>
              <a:gd name="adj" fmla="val 86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086600" y="2192020"/>
            <a:ext cx="228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Spring Boot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281160" y="2192020"/>
            <a:ext cx="219456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framework e API REST</a:t>
            </a:r>
            <a:endParaRPr lang="en-US" sz="1400" dirty="0"/>
          </a:p>
        </p:txBody>
      </p:sp>
      <p:sp>
        <p:nvSpPr>
          <p:cNvPr id="13" name="stack Spring Data JPA"/>
          <p:cNvSpPr/>
          <p:nvPr/>
        </p:nvSpPr>
        <p:spPr>
          <a:xfrm>
            <a:off x="6858000" y="3832860"/>
            <a:ext cx="4754880" cy="698500"/>
          </a:xfrm>
          <a:prstGeom prst="roundRect">
            <a:avLst>
              <a:gd name="adj" fmla="val 86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086600" y="3832860"/>
            <a:ext cx="228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Spring Data JPA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281160" y="3832860"/>
            <a:ext cx="219456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acesso ao banco</a:t>
            </a:r>
            <a:endParaRPr lang="en-US" sz="1400" dirty="0"/>
          </a:p>
        </p:txBody>
      </p:sp>
      <p:sp>
        <p:nvSpPr>
          <p:cNvPr id="16" name="stack PostgreSQL"/>
          <p:cNvSpPr/>
          <p:nvPr/>
        </p:nvSpPr>
        <p:spPr>
          <a:xfrm>
            <a:off x="6858000" y="4653280"/>
            <a:ext cx="4754880" cy="698500"/>
          </a:xfrm>
          <a:prstGeom prst="roundRect">
            <a:avLst>
              <a:gd name="adj" fmla="val 86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086600" y="4653280"/>
            <a:ext cx="228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PostgreSQL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281160" y="4653280"/>
            <a:ext cx="219456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persistência</a:t>
            </a:r>
            <a:endParaRPr lang="en-US" sz="1400" dirty="0"/>
          </a:p>
        </p:txBody>
      </p:sp>
      <p:sp>
        <p:nvSpPr>
          <p:cNvPr id="19" name="stack Swagger"/>
          <p:cNvSpPr/>
          <p:nvPr/>
        </p:nvSpPr>
        <p:spPr>
          <a:xfrm>
            <a:off x="6858000" y="5473700"/>
            <a:ext cx="4754880" cy="698500"/>
          </a:xfrm>
          <a:prstGeom prst="roundRect">
            <a:avLst>
              <a:gd name="adj" fmla="val 86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086600" y="5473700"/>
            <a:ext cx="228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Swagger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281160" y="5473700"/>
            <a:ext cx="219456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documentação interativa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 dirty="0"/>
          </a:p>
        </p:txBody>
      </p:sp>
      <p:sp>
        <p:nvSpPr>
          <p:cNvPr id="22" name="stack Spring Security"/>
          <p:cNvSpPr/>
          <p:nvPr/>
        </p:nvSpPr>
        <p:spPr>
          <a:xfrm>
            <a:off x="6858000" y="3012440"/>
            <a:ext cx="4754880" cy="698500"/>
          </a:xfrm>
          <a:prstGeom prst="roundRect">
            <a:avLst>
              <a:gd name="adj" fmla="val 86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7"/>
          <p:cNvSpPr txBox="1"/>
          <p:nvPr/>
        </p:nvSpPr>
        <p:spPr>
          <a:xfrm>
            <a:off x="7086600" y="3012440"/>
            <a:ext cx="228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smtClean="0">
                <a:solidFill>
                  <a:srgbClr val="0F2A2E"/>
                </a:solidFill>
              </a:rPr>
              <a:t>Spring Security</a:t>
            </a:r>
            <a:endParaRPr lang="en-US" sz="1800" dirty="0">
              <a:solidFill>
                <a:srgbClr val="0F2A2E"/>
              </a:solidFill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9281160" y="3012440"/>
            <a:ext cx="219456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mtClean="0">
                <a:solidFill>
                  <a:schemeClr val="tx1"/>
                </a:solidFill>
              </a:rPr>
              <a:t>login e permissões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Modelagem das entidades</a:t>
            </a:r>
            <a:endParaRPr lang="en-US" sz="3200" dirty="0"/>
          </a:p>
        </p:txBody>
      </p:sp>
      <p:sp>
        <p:nvSpPr>
          <p:cNvPr id="4" name="entidade Usuario"/>
          <p:cNvSpPr/>
          <p:nvPr/>
        </p:nvSpPr>
        <p:spPr>
          <a:xfrm>
            <a:off x="548640" y="1371600"/>
            <a:ext cx="361188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cabecalho Usuario"/>
          <p:cNvSpPr/>
          <p:nvPr/>
        </p:nvSpPr>
        <p:spPr>
          <a:xfrm>
            <a:off x="548640" y="1371600"/>
            <a:ext cx="3611880" cy="56692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itulo Usuario"/>
          <p:cNvSpPr txBox="1"/>
          <p:nvPr/>
        </p:nvSpPr>
        <p:spPr>
          <a:xfrm>
            <a:off x="658368" y="1371600"/>
            <a:ext cx="3392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Usuario</a:t>
            </a:r>
            <a:endParaRPr lang="en-US" sz="1500" dirty="0"/>
          </a:p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</a:rPr>
              <a:t>classe abstrata · herança JOINED</a:t>
            </a:r>
            <a:endParaRPr lang="en-US" sz="1500" dirty="0"/>
          </a:p>
        </p:txBody>
      </p:sp>
      <p:sp>
        <p:nvSpPr>
          <p:cNvPr id="7" name="campos Usuario"/>
          <p:cNvSpPr txBox="1"/>
          <p:nvPr/>
        </p:nvSpPr>
        <p:spPr>
          <a:xfrm>
            <a:off x="658368" y="1993392"/>
            <a:ext cx="339242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smtClean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       Integer  (PK)</a:t>
            </a:r>
            <a:endParaRPr lang="en-US" sz="1300" dirty="0"/>
          </a:p>
          <a:p>
            <a:pPr marL="0" indent="0">
              <a:buNone/>
            </a:pPr>
            <a:r>
              <a:rPr lang="en-US" sz="1300" smtClean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         String</a:t>
            </a:r>
            <a:endParaRPr lang="en-US" sz="1300" dirty="0"/>
          </a:p>
          <a:p>
            <a:pPr marL="0" indent="0">
              <a:buNone/>
            </a:pPr>
            <a:r>
              <a:rPr lang="en-US" sz="1300" smtClean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           String</a:t>
            </a:r>
            <a:endParaRPr lang="en-US" sz="1300" dirty="0"/>
          </a:p>
          <a:p>
            <a:pPr marL="0" indent="0">
              <a:buNone/>
            </a:pPr>
            <a:r>
              <a:rPr lang="en-US" sz="1300" smtClean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        String</a:t>
            </a:r>
          </a:p>
          <a:p>
            <a:pPr marL="0" indent="0">
              <a:buNone/>
            </a:pPr>
            <a:r>
              <a:rPr lang="en-US" sz="1300" smtClean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         String (BCrypt)</a:t>
            </a:r>
            <a:endParaRPr lang="en-US" sz="1300" dirty="0"/>
          </a:p>
        </p:txBody>
      </p:sp>
      <p:sp>
        <p:nvSpPr>
          <p:cNvPr id="8" name="entidade GestorEquipe"/>
          <p:cNvSpPr/>
          <p:nvPr/>
        </p:nvSpPr>
        <p:spPr>
          <a:xfrm>
            <a:off x="4343400" y="1371600"/>
            <a:ext cx="361188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cabecalho GestorEquipe"/>
          <p:cNvSpPr/>
          <p:nvPr/>
        </p:nvSpPr>
        <p:spPr>
          <a:xfrm>
            <a:off x="4343400" y="1371600"/>
            <a:ext cx="3611880" cy="56692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itulo GestorEquipe"/>
          <p:cNvSpPr txBox="1"/>
          <p:nvPr/>
        </p:nvSpPr>
        <p:spPr>
          <a:xfrm>
            <a:off x="4453128" y="1371600"/>
            <a:ext cx="3392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GestorEquipe</a:t>
            </a:r>
            <a:endParaRPr lang="en-US" sz="1500" dirty="0"/>
          </a:p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</a:rPr>
              <a:t>extends Usuario</a:t>
            </a:r>
            <a:endParaRPr lang="en-US" sz="1500" dirty="0"/>
          </a:p>
        </p:txBody>
      </p:sp>
      <p:sp>
        <p:nvSpPr>
          <p:cNvPr id="11" name="campos GestorEquipe"/>
          <p:cNvSpPr txBox="1"/>
          <p:nvPr/>
        </p:nvSpPr>
        <p:spPr>
          <a:xfrm>
            <a:off x="4453128" y="1993392"/>
            <a:ext cx="339242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equipeAtribuida → </a:t>
            </a:r>
            <a:r>
              <a:rPr lang="en-US" sz="1300" dirty="0" smtClean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Equipe</a:t>
            </a:r>
            <a:endParaRPr lang="en-US" sz="1300" dirty="0"/>
          </a:p>
        </p:txBody>
      </p:sp>
      <p:sp>
        <p:nvSpPr>
          <p:cNvPr id="12" name="entidade Desenvolvedor"/>
          <p:cNvSpPr/>
          <p:nvPr/>
        </p:nvSpPr>
        <p:spPr>
          <a:xfrm>
            <a:off x="8138160" y="1371600"/>
            <a:ext cx="361188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cabecalho Desenvolvedor"/>
          <p:cNvSpPr/>
          <p:nvPr/>
        </p:nvSpPr>
        <p:spPr>
          <a:xfrm>
            <a:off x="8138160" y="1371600"/>
            <a:ext cx="3611880" cy="56692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itulo Desenvolvedor"/>
          <p:cNvSpPr txBox="1"/>
          <p:nvPr/>
        </p:nvSpPr>
        <p:spPr>
          <a:xfrm>
            <a:off x="8247888" y="1371600"/>
            <a:ext cx="3392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Desenvolvedor</a:t>
            </a:r>
            <a:endParaRPr lang="en-US" sz="1500" dirty="0"/>
          </a:p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</a:rPr>
              <a:t>extends Usuario</a:t>
            </a:r>
            <a:endParaRPr lang="en-US" sz="1500" dirty="0"/>
          </a:p>
        </p:txBody>
      </p:sp>
      <p:sp>
        <p:nvSpPr>
          <p:cNvPr id="15" name="campos Desenvolvedor"/>
          <p:cNvSpPr txBox="1"/>
          <p:nvPr/>
        </p:nvSpPr>
        <p:spPr>
          <a:xfrm>
            <a:off x="8247888" y="1993392"/>
            <a:ext cx="339242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equipe            → Equipe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projetoAtribuido  → Projeto</a:t>
            </a:r>
            <a:endParaRPr lang="en-US" sz="1300" dirty="0"/>
          </a:p>
        </p:txBody>
      </p:sp>
      <p:sp>
        <p:nvSpPr>
          <p:cNvPr id="16" name="entidade Equipe"/>
          <p:cNvSpPr/>
          <p:nvPr/>
        </p:nvSpPr>
        <p:spPr>
          <a:xfrm>
            <a:off x="548640" y="3246120"/>
            <a:ext cx="3611880" cy="292608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cabecalho Equipe"/>
          <p:cNvSpPr/>
          <p:nvPr/>
        </p:nvSpPr>
        <p:spPr>
          <a:xfrm>
            <a:off x="548640" y="3246120"/>
            <a:ext cx="361188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itulo Equipe"/>
          <p:cNvSpPr txBox="1"/>
          <p:nvPr/>
        </p:nvSpPr>
        <p:spPr>
          <a:xfrm>
            <a:off x="658368" y="3262898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Equipe</a:t>
            </a:r>
            <a:endParaRPr lang="en-US" sz="1500" dirty="0"/>
          </a:p>
        </p:txBody>
      </p:sp>
      <p:sp>
        <p:nvSpPr>
          <p:cNvPr id="19" name="campos Equipe"/>
          <p:cNvSpPr txBox="1"/>
          <p:nvPr/>
        </p:nvSpPr>
        <p:spPr>
          <a:xfrm>
            <a:off x="658368" y="3685032"/>
            <a:ext cx="339242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   Integer (PK)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     String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gestor    → GestorEquipe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listaDeProjetos         [Projeto]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listaDeDesenvolvedores  [Dev]</a:t>
            </a:r>
            <a:endParaRPr lang="en-US" sz="1300" dirty="0"/>
          </a:p>
        </p:txBody>
      </p:sp>
      <p:sp>
        <p:nvSpPr>
          <p:cNvPr id="20" name="entidade Projeto"/>
          <p:cNvSpPr/>
          <p:nvPr/>
        </p:nvSpPr>
        <p:spPr>
          <a:xfrm>
            <a:off x="4343400" y="3246120"/>
            <a:ext cx="3611880" cy="292608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cabecalho Projeto"/>
          <p:cNvSpPr/>
          <p:nvPr/>
        </p:nvSpPr>
        <p:spPr>
          <a:xfrm>
            <a:off x="4343400" y="3246120"/>
            <a:ext cx="361188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itulo Projeto"/>
          <p:cNvSpPr txBox="1"/>
          <p:nvPr/>
        </p:nvSpPr>
        <p:spPr>
          <a:xfrm>
            <a:off x="4453128" y="3246120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Projeto</a:t>
            </a:r>
            <a:endParaRPr lang="en-US" sz="1500" dirty="0"/>
          </a:p>
        </p:txBody>
      </p:sp>
      <p:sp>
        <p:nvSpPr>
          <p:cNvPr id="23" name="campos Projeto"/>
          <p:cNvSpPr txBox="1"/>
          <p:nvPr/>
        </p:nvSpPr>
        <p:spPr>
          <a:xfrm>
            <a:off x="4453128" y="3685032"/>
            <a:ext cx="339242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    Integer (PK)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nome, descricao  String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dataInicio, dataFim LocalDate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    StatusProjeto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ativo      boolean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equipe     → Equipe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listaDeAtividades [Atividade]</a:t>
            </a:r>
            <a:endParaRPr lang="en-US" sz="1300" dirty="0"/>
          </a:p>
        </p:txBody>
      </p:sp>
      <p:sp>
        <p:nvSpPr>
          <p:cNvPr id="24" name="entidade Atividade"/>
          <p:cNvSpPr/>
          <p:nvPr/>
        </p:nvSpPr>
        <p:spPr>
          <a:xfrm>
            <a:off x="8138160" y="3246120"/>
            <a:ext cx="3611880" cy="292608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cabecalho Atividade"/>
          <p:cNvSpPr/>
          <p:nvPr/>
        </p:nvSpPr>
        <p:spPr>
          <a:xfrm>
            <a:off x="8138160" y="3246120"/>
            <a:ext cx="361188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itulo Atividade"/>
          <p:cNvSpPr txBox="1"/>
          <p:nvPr/>
        </p:nvSpPr>
        <p:spPr>
          <a:xfrm>
            <a:off x="8247888" y="3246120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Atividade</a:t>
            </a:r>
            <a:endParaRPr lang="en-US" sz="1500" dirty="0"/>
          </a:p>
        </p:txBody>
      </p:sp>
      <p:sp>
        <p:nvSpPr>
          <p:cNvPr id="27" name="campos Atividade"/>
          <p:cNvSpPr txBox="1"/>
          <p:nvPr/>
        </p:nvSpPr>
        <p:spPr>
          <a:xfrm>
            <a:off x="8247888" y="3685032"/>
            <a:ext cx="339242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   Integer (PK)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nome, descricao  String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situacaoAtual SituacaoAtividade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prioridade   Prioridade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dataInicio, dataFim LocalDate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ativo boolean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       → </a:t>
            </a:r>
            <a:r>
              <a:rPr lang="en-US" sz="1300" dirty="0" smtClean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desenvolvedor → Desenvolvedor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Relacionamento entre as entidades</a:t>
            </a:r>
            <a:endParaRPr lang="en-US" sz="3200" dirty="0"/>
          </a:p>
        </p:txBody>
      </p:sp>
      <p:sp>
        <p:nvSpPr>
          <p:cNvPr id="4" name="heranca gestor"/>
          <p:cNvSpPr/>
          <p:nvPr/>
        </p:nvSpPr>
        <p:spPr>
          <a:xfrm flipH="1">
            <a:off x="1737360" y="2331720"/>
            <a:ext cx="1188720" cy="9144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5" name="heranca dev"/>
          <p:cNvSpPr/>
          <p:nvPr/>
        </p:nvSpPr>
        <p:spPr>
          <a:xfrm>
            <a:off x="2926080" y="2331720"/>
            <a:ext cx="1554480" cy="9144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6" name="gestor-equipe"/>
          <p:cNvSpPr/>
          <p:nvPr/>
        </p:nvSpPr>
        <p:spPr>
          <a:xfrm>
            <a:off x="1737360" y="4114800"/>
            <a:ext cx="1005840" cy="11430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7" name="dev-equipe"/>
          <p:cNvSpPr/>
          <p:nvPr/>
        </p:nvSpPr>
        <p:spPr>
          <a:xfrm flipV="1">
            <a:off x="3657600" y="4114800"/>
            <a:ext cx="822960" cy="11430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8" name="equipe-projeto"/>
          <p:cNvSpPr/>
          <p:nvPr/>
        </p:nvSpPr>
        <p:spPr>
          <a:xfrm>
            <a:off x="4297680" y="5692140"/>
            <a:ext cx="35661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9" name="projeto-atividade"/>
          <p:cNvSpPr/>
          <p:nvPr/>
        </p:nvSpPr>
        <p:spPr>
          <a:xfrm>
            <a:off x="9189720" y="4114800"/>
            <a:ext cx="0" cy="114300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10" name="dev-atividade"/>
          <p:cNvSpPr/>
          <p:nvPr/>
        </p:nvSpPr>
        <p:spPr>
          <a:xfrm>
            <a:off x="5669280" y="3680460"/>
            <a:ext cx="21945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1" name="dev-projeto"/>
          <p:cNvSpPr/>
          <p:nvPr/>
        </p:nvSpPr>
        <p:spPr>
          <a:xfrm>
            <a:off x="5394960" y="4114800"/>
            <a:ext cx="2468880" cy="13258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12" name="no Usuario"/>
          <p:cNvSpPr/>
          <p:nvPr/>
        </p:nvSpPr>
        <p:spPr>
          <a:xfrm>
            <a:off x="1737360" y="146304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marca Usuario"/>
          <p:cNvSpPr/>
          <p:nvPr/>
        </p:nvSpPr>
        <p:spPr>
          <a:xfrm>
            <a:off x="1737360" y="1463040"/>
            <a:ext cx="128016" cy="8686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o Usuario"/>
          <p:cNvSpPr txBox="1"/>
          <p:nvPr/>
        </p:nvSpPr>
        <p:spPr>
          <a:xfrm>
            <a:off x="1993392" y="146304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Usuario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abstrata</a:t>
            </a:r>
            <a:endParaRPr lang="en-US" sz="1600" dirty="0"/>
          </a:p>
        </p:txBody>
      </p:sp>
      <p:sp>
        <p:nvSpPr>
          <p:cNvPr id="15" name="no GestorEquipe"/>
          <p:cNvSpPr/>
          <p:nvPr/>
        </p:nvSpPr>
        <p:spPr>
          <a:xfrm>
            <a:off x="548640" y="324612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marca GestorEquipe"/>
          <p:cNvSpPr/>
          <p:nvPr/>
        </p:nvSpPr>
        <p:spPr>
          <a:xfrm>
            <a:off x="548640" y="3246120"/>
            <a:ext cx="128016" cy="8686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o GestorEquipe"/>
          <p:cNvSpPr txBox="1"/>
          <p:nvPr/>
        </p:nvSpPr>
        <p:spPr>
          <a:xfrm>
            <a:off x="804672" y="324612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GestorEquipe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filha de Usuario</a:t>
            </a:r>
            <a:endParaRPr lang="en-US" sz="1600" dirty="0"/>
          </a:p>
        </p:txBody>
      </p:sp>
      <p:sp>
        <p:nvSpPr>
          <p:cNvPr id="18" name="no Desenvolvedor"/>
          <p:cNvSpPr/>
          <p:nvPr/>
        </p:nvSpPr>
        <p:spPr>
          <a:xfrm>
            <a:off x="3291840" y="324612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marca Desenvolvedor"/>
          <p:cNvSpPr/>
          <p:nvPr/>
        </p:nvSpPr>
        <p:spPr>
          <a:xfrm>
            <a:off x="3291840" y="3246120"/>
            <a:ext cx="128016" cy="8686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o Desenvolvedor"/>
          <p:cNvSpPr txBox="1"/>
          <p:nvPr/>
        </p:nvSpPr>
        <p:spPr>
          <a:xfrm>
            <a:off x="3547872" y="324612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Desenvolvedor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filha de Usuario</a:t>
            </a:r>
            <a:endParaRPr lang="en-US" sz="1600" dirty="0"/>
          </a:p>
        </p:txBody>
      </p:sp>
      <p:sp>
        <p:nvSpPr>
          <p:cNvPr id="21" name="no Equipe"/>
          <p:cNvSpPr/>
          <p:nvPr/>
        </p:nvSpPr>
        <p:spPr>
          <a:xfrm>
            <a:off x="1920240" y="525780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marca Equipe"/>
          <p:cNvSpPr/>
          <p:nvPr/>
        </p:nvSpPr>
        <p:spPr>
          <a:xfrm>
            <a:off x="1920240" y="5257800"/>
            <a:ext cx="128016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o Equipe"/>
          <p:cNvSpPr txBox="1"/>
          <p:nvPr/>
        </p:nvSpPr>
        <p:spPr>
          <a:xfrm>
            <a:off x="2176272" y="525780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Equipe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agrupa pessoas e projetos</a:t>
            </a:r>
            <a:endParaRPr lang="en-US" sz="1600" dirty="0"/>
          </a:p>
        </p:txBody>
      </p:sp>
      <p:sp>
        <p:nvSpPr>
          <p:cNvPr id="24" name="no Atividade"/>
          <p:cNvSpPr/>
          <p:nvPr/>
        </p:nvSpPr>
        <p:spPr>
          <a:xfrm>
            <a:off x="7863840" y="324612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marca Atividade"/>
          <p:cNvSpPr/>
          <p:nvPr/>
        </p:nvSpPr>
        <p:spPr>
          <a:xfrm>
            <a:off x="7863840" y="3246120"/>
            <a:ext cx="128016" cy="8686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o Atividade"/>
          <p:cNvSpPr txBox="1"/>
          <p:nvPr/>
        </p:nvSpPr>
        <p:spPr>
          <a:xfrm>
            <a:off x="8119872" y="324612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Atividade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sempre ligada a um projeto</a:t>
            </a:r>
            <a:endParaRPr lang="en-US" sz="1600" dirty="0"/>
          </a:p>
        </p:txBody>
      </p:sp>
      <p:sp>
        <p:nvSpPr>
          <p:cNvPr id="27" name="no Projeto"/>
          <p:cNvSpPr/>
          <p:nvPr/>
        </p:nvSpPr>
        <p:spPr>
          <a:xfrm>
            <a:off x="7863840" y="525780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marca Projeto"/>
          <p:cNvSpPr/>
          <p:nvPr/>
        </p:nvSpPr>
        <p:spPr>
          <a:xfrm>
            <a:off x="7863840" y="5257800"/>
            <a:ext cx="128016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o Projeto"/>
          <p:cNvSpPr txBox="1"/>
          <p:nvPr/>
        </p:nvSpPr>
        <p:spPr>
          <a:xfrm>
            <a:off x="8119872" y="525780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Projeto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possui várias atividades</a:t>
            </a:r>
            <a:endParaRPr lang="en-US" sz="1600" dirty="0"/>
          </a:p>
        </p:txBody>
      </p:sp>
      <p:sp>
        <p:nvSpPr>
          <p:cNvPr id="30" name="cardinalidade 1 — 1"/>
          <p:cNvSpPr txBox="1"/>
          <p:nvPr/>
        </p:nvSpPr>
        <p:spPr>
          <a:xfrm>
            <a:off x="1234440" y="4334256"/>
            <a:ext cx="731520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 — 1</a:t>
            </a:r>
            <a:endParaRPr lang="en-US" sz="1200" dirty="0"/>
          </a:p>
        </p:txBody>
      </p:sp>
      <p:sp>
        <p:nvSpPr>
          <p:cNvPr id="31" name="cardinalidade N — 1"/>
          <p:cNvSpPr txBox="1"/>
          <p:nvPr/>
        </p:nvSpPr>
        <p:spPr>
          <a:xfrm>
            <a:off x="3703320" y="4379976"/>
            <a:ext cx="731520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N — 1</a:t>
            </a:r>
            <a:endParaRPr lang="en-US" sz="1200" dirty="0"/>
          </a:p>
        </p:txBody>
      </p:sp>
      <p:sp>
        <p:nvSpPr>
          <p:cNvPr id="32" name="cardinalidade 1 — N"/>
          <p:cNvSpPr txBox="1"/>
          <p:nvPr/>
        </p:nvSpPr>
        <p:spPr>
          <a:xfrm>
            <a:off x="5760720" y="5541264"/>
            <a:ext cx="731520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 — N</a:t>
            </a:r>
            <a:endParaRPr lang="en-US" sz="1200" dirty="0"/>
          </a:p>
        </p:txBody>
      </p:sp>
      <p:sp>
        <p:nvSpPr>
          <p:cNvPr id="33" name="cardinalidade 1 — N"/>
          <p:cNvSpPr txBox="1"/>
          <p:nvPr/>
        </p:nvSpPr>
        <p:spPr>
          <a:xfrm>
            <a:off x="8823960" y="4562856"/>
            <a:ext cx="731520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 — N</a:t>
            </a:r>
            <a:endParaRPr lang="en-US" sz="1200" dirty="0"/>
          </a:p>
        </p:txBody>
      </p:sp>
      <p:sp>
        <p:nvSpPr>
          <p:cNvPr id="34" name="cardinalidade 1 — N"/>
          <p:cNvSpPr txBox="1"/>
          <p:nvPr/>
        </p:nvSpPr>
        <p:spPr>
          <a:xfrm>
            <a:off x="6355080" y="3529584"/>
            <a:ext cx="731520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 — N</a:t>
            </a:r>
            <a:endParaRPr lang="en-US" sz="1200" dirty="0"/>
          </a:p>
        </p:txBody>
      </p:sp>
      <p:sp>
        <p:nvSpPr>
          <p:cNvPr id="35" name="cardinalidade N — 1"/>
          <p:cNvSpPr txBox="1"/>
          <p:nvPr/>
        </p:nvSpPr>
        <p:spPr>
          <a:xfrm>
            <a:off x="6355080" y="4562856"/>
            <a:ext cx="731520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N — 1</a:t>
            </a:r>
            <a:endParaRPr lang="en-US" sz="1200" dirty="0"/>
          </a:p>
        </p:txBody>
      </p:sp>
      <p:sp>
        <p:nvSpPr>
          <p:cNvPr id="36" name="legenda"/>
          <p:cNvSpPr/>
          <p:nvPr/>
        </p:nvSpPr>
        <p:spPr>
          <a:xfrm>
            <a:off x="6035040" y="1371600"/>
            <a:ext cx="5577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legenda texto"/>
          <p:cNvSpPr txBox="1"/>
          <p:nvPr/>
        </p:nvSpPr>
        <p:spPr>
          <a:xfrm>
            <a:off x="6217920" y="1444752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Como ler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Equipe 1 — N Desenvolvedor: cada dev está em uma equipe.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Projeto 1 — N Atividade: a chave estrangeira fica na atividade.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Linha tracejada com seta: herança · tracejada reta: projeto atribuído.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Organização das camadas</a:t>
            </a:r>
            <a:endParaRPr lang="en-US" sz="3200" dirty="0"/>
          </a:p>
        </p:txBody>
      </p:sp>
      <p:sp>
        <p:nvSpPr>
          <p:cNvPr id="4" name="camada Controller"/>
          <p:cNvSpPr/>
          <p:nvPr/>
        </p:nvSpPr>
        <p:spPr>
          <a:xfrm>
            <a:off x="548640" y="146304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cab Controller"/>
          <p:cNvSpPr/>
          <p:nvPr/>
        </p:nvSpPr>
        <p:spPr>
          <a:xfrm>
            <a:off x="548640" y="1463040"/>
            <a:ext cx="2514600" cy="56692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630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Controller</a:t>
            </a:r>
            <a:endParaRPr lang="en-US" sz="2000" dirty="0"/>
          </a:p>
        </p:txBody>
      </p:sp>
      <p:sp>
        <p:nvSpPr>
          <p:cNvPr id="7" name="desc Controller"/>
          <p:cNvSpPr txBox="1"/>
          <p:nvPr/>
        </p:nvSpPr>
        <p:spPr>
          <a:xfrm>
            <a:off x="685800" y="21488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Recebe o pedido HTTP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Lê os parâmetros e chama o Service. Nenhuma regra aqui.</a:t>
            </a:r>
            <a:endParaRPr lang="en-US" sz="1600" dirty="0"/>
          </a:p>
        </p:txBody>
      </p:sp>
      <p:sp>
        <p:nvSpPr>
          <p:cNvPr id="8" name="seta"/>
          <p:cNvSpPr txBox="1"/>
          <p:nvPr/>
        </p:nvSpPr>
        <p:spPr>
          <a:xfrm>
            <a:off x="3063240" y="246888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camada Service"/>
          <p:cNvSpPr/>
          <p:nvPr/>
        </p:nvSpPr>
        <p:spPr>
          <a:xfrm>
            <a:off x="3401568" y="146304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cab Service"/>
          <p:cNvSpPr/>
          <p:nvPr/>
        </p:nvSpPr>
        <p:spPr>
          <a:xfrm>
            <a:off x="3401568" y="1463040"/>
            <a:ext cx="2514600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38728" y="14630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Service</a:t>
            </a:r>
            <a:endParaRPr lang="en-US" sz="2000" dirty="0"/>
          </a:p>
        </p:txBody>
      </p:sp>
      <p:sp>
        <p:nvSpPr>
          <p:cNvPr id="12" name="desc Service"/>
          <p:cNvSpPr txBox="1"/>
          <p:nvPr/>
        </p:nvSpPr>
        <p:spPr>
          <a:xfrm>
            <a:off x="3538728" y="21488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Regras de negócio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Valida, decide e coordena. Único lugar das regras.</a:t>
            </a:r>
            <a:endParaRPr lang="en-US" sz="1600" dirty="0"/>
          </a:p>
        </p:txBody>
      </p:sp>
      <p:sp>
        <p:nvSpPr>
          <p:cNvPr id="13" name="seta"/>
          <p:cNvSpPr txBox="1"/>
          <p:nvPr/>
        </p:nvSpPr>
        <p:spPr>
          <a:xfrm>
            <a:off x="5916168" y="246888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camada Repository"/>
          <p:cNvSpPr/>
          <p:nvPr/>
        </p:nvSpPr>
        <p:spPr>
          <a:xfrm>
            <a:off x="6254496" y="146304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cab Repository"/>
          <p:cNvSpPr/>
          <p:nvPr/>
        </p:nvSpPr>
        <p:spPr>
          <a:xfrm>
            <a:off x="6254496" y="1463040"/>
            <a:ext cx="2514600" cy="56692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91656" y="14630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Repository</a:t>
            </a:r>
            <a:endParaRPr lang="en-US" sz="2000" dirty="0"/>
          </a:p>
        </p:txBody>
      </p:sp>
      <p:sp>
        <p:nvSpPr>
          <p:cNvPr id="17" name="desc Repository"/>
          <p:cNvSpPr txBox="1"/>
          <p:nvPr/>
        </p:nvSpPr>
        <p:spPr>
          <a:xfrm>
            <a:off x="6391656" y="21488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Acesso aos dados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Spring Data JPA: consultas e persistência.</a:t>
            </a:r>
            <a:endParaRPr lang="en-US" sz="1600" dirty="0"/>
          </a:p>
        </p:txBody>
      </p:sp>
      <p:sp>
        <p:nvSpPr>
          <p:cNvPr id="18" name="seta"/>
          <p:cNvSpPr txBox="1"/>
          <p:nvPr/>
        </p:nvSpPr>
        <p:spPr>
          <a:xfrm>
            <a:off x="8769096" y="246888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camada Entity"/>
          <p:cNvSpPr/>
          <p:nvPr/>
        </p:nvSpPr>
        <p:spPr>
          <a:xfrm>
            <a:off x="9107424" y="146304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cab Entity"/>
          <p:cNvSpPr/>
          <p:nvPr/>
        </p:nvSpPr>
        <p:spPr>
          <a:xfrm>
            <a:off x="9107424" y="1463040"/>
            <a:ext cx="2514600" cy="56692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44584" y="14630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Entity</a:t>
            </a:r>
            <a:endParaRPr lang="en-US" sz="2000" dirty="0"/>
          </a:p>
        </p:txBody>
      </p:sp>
      <p:sp>
        <p:nvSpPr>
          <p:cNvPr id="22" name="desc Entity"/>
          <p:cNvSpPr txBox="1"/>
          <p:nvPr/>
        </p:nvSpPr>
        <p:spPr>
          <a:xfrm>
            <a:off x="9244584" y="21488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Modelo do banco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@Entity, @Id, @ManyToOne: mapeia as tabelas.</a:t>
            </a:r>
            <a:endParaRPr lang="en-US" sz="1600" dirty="0"/>
          </a:p>
        </p:txBody>
      </p:sp>
      <p:sp>
        <p:nvSpPr>
          <p:cNvPr id="23" name="regra camadas"/>
          <p:cNvSpPr/>
          <p:nvPr/>
        </p:nvSpPr>
        <p:spPr>
          <a:xfrm>
            <a:off x="548640" y="4160520"/>
            <a:ext cx="1106424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822960" y="4251960"/>
            <a:ext cx="10515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Nenhuma regra de negócio fica nos endpoints.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Exemplo: o Controller de projeto só chama projetoService.atualizarStatus(). Quem recusa a conclusão é o Service.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Principais regras de negócio</a:t>
            </a:r>
            <a:endParaRPr lang="en-US" sz="3200" dirty="0"/>
          </a:p>
        </p:txBody>
      </p:sp>
      <p:sp>
        <p:nvSpPr>
          <p:cNvPr id="4" name="regra Sem campos em branco"/>
          <p:cNvSpPr/>
          <p:nvPr/>
        </p:nvSpPr>
        <p:spPr>
          <a:xfrm>
            <a:off x="548640" y="137160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icone Sem campos em branco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554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Sem campos em branco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Dados essenciais são obrigatórios.</a:t>
            </a:r>
            <a:endParaRPr lang="en-US" sz="1500" dirty="0"/>
          </a:p>
        </p:txBody>
      </p:sp>
      <p:sp>
        <p:nvSpPr>
          <p:cNvPr id="9" name="regra Datas coerentes"/>
          <p:cNvSpPr/>
          <p:nvPr/>
        </p:nvSpPr>
        <p:spPr>
          <a:xfrm>
            <a:off x="4343400" y="137160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icone Datas coerentes"/>
          <p:cNvSpPr/>
          <p:nvPr/>
        </p:nvSpPr>
        <p:spPr>
          <a:xfrm>
            <a:off x="457200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212080" y="1554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Datas coerentes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2402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Fim após o início, sem prazo no passado, atividade dentro do período do projeto.</a:t>
            </a:r>
            <a:endParaRPr lang="en-US" sz="1500" dirty="0"/>
          </a:p>
        </p:txBody>
      </p:sp>
      <p:sp>
        <p:nvSpPr>
          <p:cNvPr id="14" name="regra Atividade exige projeto"/>
          <p:cNvSpPr/>
          <p:nvPr/>
        </p:nvSpPr>
        <p:spPr>
          <a:xfrm>
            <a:off x="8138160" y="137160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icone Atividade exige projeto"/>
          <p:cNvSpPr/>
          <p:nvPr/>
        </p:nvSpPr>
        <p:spPr>
          <a:xfrm>
            <a:off x="836676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667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006840" y="1554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Atividade exige projeto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22402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Não existe atividade solta, nem no banco.</a:t>
            </a:r>
            <a:endParaRPr lang="en-US" sz="1500" dirty="0"/>
          </a:p>
        </p:txBody>
      </p:sp>
      <p:sp>
        <p:nvSpPr>
          <p:cNvPr id="19" name="regra Conclusão protegida"/>
          <p:cNvSpPr/>
          <p:nvPr/>
        </p:nvSpPr>
        <p:spPr>
          <a:xfrm>
            <a:off x="548640" y="379476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icone Conclusão protegida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3977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Conclusão protegida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6634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Projeto só conclui com atividades e todas concluídas.</a:t>
            </a:r>
            <a:endParaRPr lang="en-US" sz="1500" dirty="0"/>
          </a:p>
        </p:txBody>
      </p:sp>
      <p:sp>
        <p:nvSpPr>
          <p:cNvPr id="24" name="regra Ativo ou inativo"/>
          <p:cNvSpPr/>
          <p:nvPr/>
        </p:nvSpPr>
        <p:spPr>
          <a:xfrm>
            <a:off x="4343400" y="379476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icone Ativo ou inativo"/>
          <p:cNvSpPr/>
          <p:nvPr/>
        </p:nvSpPr>
        <p:spPr>
          <a:xfrm>
            <a:off x="4572000" y="40233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212080" y="3977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Ativo ou inativo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6634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setStatus alterna entre ativo e inativo. Nada é apagado, e não desativa o que está em andamento.</a:t>
            </a:r>
            <a:endParaRPr lang="en-US" sz="1500" dirty="0"/>
          </a:p>
        </p:txBody>
      </p:sp>
      <p:sp>
        <p:nvSpPr>
          <p:cNvPr id="29" name="regra Responsabilidade"/>
          <p:cNvSpPr/>
          <p:nvPr/>
        </p:nvSpPr>
        <p:spPr>
          <a:xfrm>
            <a:off x="8138160" y="379476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icone Responsabilidade"/>
          <p:cNvSpPr/>
          <p:nvPr/>
        </p:nvSpPr>
        <p:spPr>
          <a:xfrm>
            <a:off x="8366760" y="40233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667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9006840" y="3977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Responsabilidade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366760" y="46634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Dev da equipe assume atividade e projeto. Gestor em uma equipe só.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200" b="1" smtClean="0">
                <a:solidFill>
                  <a:schemeClr val="tx2"/>
                </a:solidFill>
              </a:rPr>
              <a:t>Segurança: como o login funciona</a:t>
            </a:r>
            <a:endParaRPr lang="en-US" sz="3200" dirty="0"/>
          </a:p>
        </p:txBody>
      </p:sp>
      <p:sp>
        <p:nvSpPr>
          <p:cNvPr id="4" name="passo 1"/>
          <p:cNvSpPr/>
          <p:nvPr/>
        </p:nvSpPr>
        <p:spPr>
          <a:xfrm>
            <a:off x="548640" y="141732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num 1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417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smtClean="0">
                <a:solidFill>
                  <a:schemeClr val="tx2"/>
                </a:solidFill>
              </a:rPr>
              <a:t>Requisição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383280" y="1417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POST /auth/login com email e senha, enviados como formulário</a:t>
            </a:r>
            <a:endParaRPr lang="en-US" sz="1500" dirty="0"/>
          </a:p>
        </p:txBody>
      </p:sp>
      <p:sp>
        <p:nvSpPr>
          <p:cNvPr id="9" name="passo 2"/>
          <p:cNvSpPr/>
          <p:nvPr/>
        </p:nvSpPr>
        <p:spPr>
          <a:xfrm>
            <a:off x="548640" y="2368296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num 2"/>
          <p:cNvSpPr/>
          <p:nvPr/>
        </p:nvSpPr>
        <p:spPr>
          <a:xfrm>
            <a:off x="731520" y="250545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236829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smtClean="0">
                <a:solidFill>
                  <a:schemeClr val="tx2"/>
                </a:solidFill>
              </a:rPr>
              <a:t>Service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2368296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UsuarioService busca o usuário pelo e-mail no banco (UserDetailsService)</a:t>
            </a:r>
            <a:endParaRPr lang="en-US" sz="1500" dirty="0"/>
          </a:p>
        </p:txBody>
      </p:sp>
      <p:sp>
        <p:nvSpPr>
          <p:cNvPr id="14" name="passo 3"/>
          <p:cNvSpPr/>
          <p:nvPr/>
        </p:nvSpPr>
        <p:spPr>
          <a:xfrm>
            <a:off x="548640" y="3319272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num 3"/>
          <p:cNvSpPr/>
          <p:nvPr/>
        </p:nvSpPr>
        <p:spPr>
          <a:xfrm>
            <a:off x="731520" y="3456432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3456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508760" y="331927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smtClean="0">
                <a:solidFill>
                  <a:schemeClr val="tx2"/>
                </a:solidFill>
              </a:rPr>
              <a:t>BCrypt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331927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Compara a senha digitada com o hash guardado em usuario.senha</a:t>
            </a:r>
            <a:endParaRPr lang="en-US" sz="1500" dirty="0"/>
          </a:p>
        </p:txBody>
      </p:sp>
      <p:sp>
        <p:nvSpPr>
          <p:cNvPr id="19" name="passo 4"/>
          <p:cNvSpPr/>
          <p:nvPr/>
        </p:nvSpPr>
        <p:spPr>
          <a:xfrm>
            <a:off x="548640" y="4270248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num 4"/>
          <p:cNvSpPr/>
          <p:nvPr/>
        </p:nvSpPr>
        <p:spPr>
          <a:xfrm>
            <a:off x="731520" y="440740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508760" y="42702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smtClean="0">
                <a:solidFill>
                  <a:schemeClr val="tx2"/>
                </a:solidFill>
              </a:rPr>
              <a:t>Sessão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3383280" y="427024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Senha certa: o Spring Security cria a sessão (cookie JSESSIONID). Errada: 401</a:t>
            </a:r>
            <a:endParaRPr lang="en-US" sz="1500" dirty="0"/>
          </a:p>
        </p:txBody>
      </p:sp>
      <p:sp>
        <p:nvSpPr>
          <p:cNvPr id="24" name="passo 5"/>
          <p:cNvSpPr/>
          <p:nvPr/>
        </p:nvSpPr>
        <p:spPr>
          <a:xfrm>
            <a:off x="548640" y="5221224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num 5"/>
          <p:cNvSpPr/>
          <p:nvPr/>
        </p:nvSpPr>
        <p:spPr>
          <a:xfrm>
            <a:off x="731520" y="535838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5358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508760" y="522122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smtClean="0">
                <a:solidFill>
                  <a:schemeClr val="tx2"/>
                </a:solidFill>
              </a:rPr>
              <a:t>Filtro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3383280" y="522122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Nas próximas chamadas, confere a sessão e o perfil antes de chegar ao Controller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19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200" b="1" smtClean="0">
                <a:solidFill>
                  <a:schemeClr val="tx2"/>
                </a:solidFill>
              </a:rPr>
              <a:t>Endpoints e permissões por perfil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27939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Método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Endpoint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smtClean="0">
                          <a:solidFill>
                            <a:schemeClr val="bg1"/>
                          </a:solidFill>
                        </a:rPr>
                        <a:t>Quem pode chamar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smtClean="0">
                          <a:solidFill>
                            <a:schemeClr val="bg1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9C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smtClean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/auth/login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smtClean="0">
                          <a:solidFill>
                            <a:schemeClr val="tx1"/>
                          </a:solidFill>
                        </a:rPr>
                        <a:t>Qualquer um: é o login (e-mail e senha)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smtClean="0">
                          <a:solidFill>
                            <a:schemeClr val="bg1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9C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smtClean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/auth/logout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smtClean="0">
                          <a:solidFill>
                            <a:schemeClr val="tx1"/>
                          </a:solidFill>
                        </a:rPr>
                        <a:t>Usuário logado: encerra a sessão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smtClean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smtClean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/auth/me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smtClean="0">
                          <a:solidFill>
                            <a:schemeClr val="tx1"/>
                          </a:solidFill>
                        </a:rPr>
                        <a:t>Usuário logado: mostra nome e perfil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smtClean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smtClean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todas as consultas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smtClean="0">
                          <a:solidFill>
                            <a:schemeClr val="tx1"/>
                          </a:solidFill>
                        </a:rPr>
                        <a:t>GESTOR e DESENVOLVEDOR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smtClean="0">
                          <a:solidFill>
                            <a:schemeClr val="bg1"/>
                          </a:solidFill>
                        </a:rPr>
                        <a:t>PUT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smtClean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/atividade/atualizarStatus/{id}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smtClean="0">
                          <a:solidFill>
                            <a:schemeClr val="tx1"/>
                          </a:solidFill>
                        </a:rPr>
                        <a:t>GESTOR e DESENVOLVEDOR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smtClean="0">
                          <a:solidFill>
                            <a:schemeClr val="bg1"/>
                          </a:solidFill>
                        </a:rPr>
                        <a:t>PUT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smtClean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/atividade/atribuirDesenvolvedor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smtClean="0">
                          <a:solidFill>
                            <a:schemeClr val="tx1"/>
                          </a:solidFill>
                        </a:rPr>
                        <a:t>GESTOR e DESENVOLVEDOR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smtClean="0">
                          <a:solidFill>
                            <a:schemeClr val="bg1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9C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smtClean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todos os .../salvar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smtClean="0">
                          <a:solidFill>
                            <a:schemeClr val="tx1"/>
                          </a:solidFill>
                        </a:rPr>
                        <a:t>Só GESTOR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smtClean="0">
                          <a:solidFill>
                            <a:schemeClr val="bg1"/>
                          </a:solidFill>
                        </a:rPr>
                        <a:t>PUT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smtClean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atualizar, atribuir e setStatus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smtClean="0">
                          <a:solidFill>
                            <a:schemeClr val="tx1"/>
                          </a:solidFill>
                        </a:rPr>
                        <a:t>Só GESTOR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 dirty="0"/>
          </a:p>
        </p:txBody>
      </p:sp>
      <p:sp>
        <p:nvSpPr>
          <p:cNvPr id="5" name="regra camadas"/>
          <p:cNvSpPr/>
          <p:nvPr/>
        </p:nvSpPr>
        <p:spPr>
          <a:xfrm>
            <a:off x="548640" y="4608576"/>
            <a:ext cx="11064240" cy="14630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21"/>
          <p:cNvSpPr txBox="1"/>
          <p:nvPr/>
        </p:nvSpPr>
        <p:spPr>
          <a:xfrm>
            <a:off x="822960" y="4700016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pt-BR" sz="1800" b="1" smtClean="0">
                <a:solidFill>
                  <a:schemeClr val="tx2"/>
                </a:solidFill>
              </a:rPr>
              <a:t>Quem bloqueia é o Spring Security, antes do Controller.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pt-BR" sz="1600" smtClean="0">
                <a:solidFill>
                  <a:schemeClr val="tx1"/>
                </a:solidFill>
              </a:rPr>
              <a:t>Sem login, a API responde 401. Logado sem permissão, responde 403. As regras ficam no SecurityConfig; os Services não mudaram.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80473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200" b="1" smtClean="0">
                <a:solidFill>
                  <a:schemeClr val="tx2"/>
                </a:solidFill>
              </a:rPr>
              <a:t>Códigos de resposta da API</a:t>
            </a:r>
            <a:endParaRPr lang="en-US" sz="3200" dirty="0"/>
          </a:p>
        </p:txBody>
      </p:sp>
      <p:sp>
        <p:nvSpPr>
          <p:cNvPr id="4" name="regra Sem campos em branco"/>
          <p:cNvSpPr/>
          <p:nvPr/>
        </p:nvSpPr>
        <p:spPr>
          <a:xfrm>
            <a:off x="548640" y="137160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icone Sem campos em branco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smtClean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554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smtClean="0">
                <a:solidFill>
                  <a:schemeClr val="tx2"/>
                </a:solidFill>
              </a:rPr>
              <a:t>200 OK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Requisição processada. Nos cadastros, leia a mensagem: a regra de negócio pode ter recusado.</a:t>
            </a:r>
            <a:endParaRPr lang="en-US" sz="1500" dirty="0"/>
          </a:p>
        </p:txBody>
      </p:sp>
      <p:sp>
        <p:nvSpPr>
          <p:cNvPr id="9" name="regra Datas coerentes"/>
          <p:cNvSpPr/>
          <p:nvPr/>
        </p:nvSpPr>
        <p:spPr>
          <a:xfrm>
            <a:off x="4343400" y="137160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icone Datas coerentes"/>
          <p:cNvSpPr/>
          <p:nvPr/>
        </p:nvSpPr>
        <p:spPr>
          <a:xfrm>
            <a:off x="4572000" y="1600200"/>
            <a:ext cx="457200" cy="45720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smtClean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212080" y="1554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smtClean="0">
                <a:solidFill>
                  <a:schemeClr val="tx2"/>
                </a:solidFill>
              </a:rPr>
              <a:t>400 Pedido inválido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2402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Campo obrigatório faltando ou valor em formato errado (data, enum, ID).</a:t>
            </a:r>
            <a:endParaRPr lang="en-US" sz="1500" dirty="0"/>
          </a:p>
        </p:txBody>
      </p:sp>
      <p:sp>
        <p:nvSpPr>
          <p:cNvPr id="14" name="regra Atividade exige projeto"/>
          <p:cNvSpPr/>
          <p:nvPr/>
        </p:nvSpPr>
        <p:spPr>
          <a:xfrm>
            <a:off x="8138160" y="137160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icone Atividade exige projeto"/>
          <p:cNvSpPr/>
          <p:nvPr/>
        </p:nvSpPr>
        <p:spPr>
          <a:xfrm>
            <a:off x="8366760" y="1600200"/>
            <a:ext cx="457200" cy="45720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667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smtClean="0">
                <a:solidFill>
                  <a:schemeClr val="bg1"/>
                </a:solidFill>
              </a:rPr>
              <a:t>✕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006840" y="1554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smtClean="0">
                <a:solidFill>
                  <a:schemeClr val="tx2"/>
                </a:solidFill>
              </a:rPr>
              <a:t>401 Não autenticado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22402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Sem login, ou e-mail e senha errados no POST /auth/login.</a:t>
            </a:r>
            <a:endParaRPr lang="en-US" sz="1500" dirty="0"/>
          </a:p>
        </p:txBody>
      </p:sp>
      <p:sp>
        <p:nvSpPr>
          <p:cNvPr id="19" name="regra Conclusão protegida"/>
          <p:cNvSpPr/>
          <p:nvPr/>
        </p:nvSpPr>
        <p:spPr>
          <a:xfrm>
            <a:off x="548640" y="379476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icone Conclusão protegida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smtClean="0">
                <a:solidFill>
                  <a:schemeClr val="bg1"/>
                </a:solidFill>
              </a:rPr>
              <a:t>✕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3977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smtClean="0">
                <a:solidFill>
                  <a:schemeClr val="tx2"/>
                </a:solidFill>
              </a:rPr>
              <a:t>403 Sem permissão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6634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Logado, mas o perfil não pode fazer isso. Também ocorre sem o token CSRF.</a:t>
            </a:r>
            <a:endParaRPr lang="en-US" sz="1500" dirty="0"/>
          </a:p>
        </p:txBody>
      </p:sp>
      <p:sp>
        <p:nvSpPr>
          <p:cNvPr id="24" name="regra Ativo ou inativo"/>
          <p:cNvSpPr/>
          <p:nvPr/>
        </p:nvSpPr>
        <p:spPr>
          <a:xfrm>
            <a:off x="4343400" y="379476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icone Ativo ou inativo"/>
          <p:cNvSpPr/>
          <p:nvPr/>
        </p:nvSpPr>
        <p:spPr>
          <a:xfrm>
            <a:off x="4572000" y="4023360"/>
            <a:ext cx="457200" cy="45720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smtClean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212080" y="3977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smtClean="0">
                <a:solidFill>
                  <a:schemeClr val="tx2"/>
                </a:solidFill>
              </a:rPr>
              <a:t>404 Não encontrado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6634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O endpoint não existe: caminho digitado errado.</a:t>
            </a:r>
            <a:endParaRPr lang="en-US" sz="1500" dirty="0"/>
          </a:p>
        </p:txBody>
      </p:sp>
      <p:sp>
        <p:nvSpPr>
          <p:cNvPr id="29" name="regra Responsabilidade"/>
          <p:cNvSpPr/>
          <p:nvPr/>
        </p:nvSpPr>
        <p:spPr>
          <a:xfrm>
            <a:off x="8138160" y="379476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icone Responsabilidade"/>
          <p:cNvSpPr/>
          <p:nvPr/>
        </p:nvSpPr>
        <p:spPr>
          <a:xfrm>
            <a:off x="8366760" y="402336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667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smtClean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9006840" y="3977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smtClean="0">
                <a:solidFill>
                  <a:schemeClr val="tx2"/>
                </a:solidFill>
              </a:rPr>
              <a:t>500 Erro no servidor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366760" y="46634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Falha inesperada no backend. Não deve ocorrer no uso normal.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214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Endpoints: projeto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27939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Método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Endpoint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 que faz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/projeto/salvar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Cadastra projeto (equipe opcional)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/projeto/listar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Lista projetos ativos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/projeto/mostrar/{id}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Detalhes do projeto e suas atividades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/projeto/listarPorStatus/{status}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Filtra por EM_ANDAMENTO ou CONCLUIDO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/projeto/buscarPorNome?nome=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Busca por parte do nome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/projeto/listarPorEquipe/{equipeId}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Projetos de uma equipe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/projeto/comPendencias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Projetos com atividades não concluídas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/projeto/progresso/{id}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Concluídas / total de atividades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PUT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/projeto/atualizar/{id}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Altera nome, descrição e datas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PUT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/projeto/atualizarStatus/{id}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Conclui ou reabre (com a regra)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PUT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/projeto/atribuirEquipe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Vincula o projeto a uma equipe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PUT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/projeto/setStatus/{id}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Alterna ativo e inativo (nunca exclui)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Endpoints: atividade (com a consulta adicional)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34644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Método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Endpoint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 que faz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/atividade/salvar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Cadastra atividade (projeto obrigatório)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PUT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/atividade/atualizar/{id}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Altera nome, descrição, prioridade e datas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PUT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/atividade/atualizarStatus/{id}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Muda para PENDENTE, EM_ANDAMENTO ou CONCLUIDA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PUT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/atividade/atribuirDesenvolvedor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Define ou assume o responsável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PUT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/atividade/setStatus/{id}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Alterna ativa e inativa (nunca exclui)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/atividade/mostrar/{id}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Detalhes de uma atividade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/atividade/listar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Todas as atividades ativas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/atividade/listarPorProjeto/{id}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Atividades de um projeto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/atividade/listarPorProjeto/{id}/situacao/{s}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Pendentes, em andamento ou concluídas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/atividade/listarPorProjeto/{id}/prioridade/{p}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Filtra por prioridade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/atividade/listarPorDesenvolvedor/{id}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Atividades de um desenvolvedor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/atividade/atrasadas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CONSULTA ADICIONAL: atrasadas, da maior prioridade para a menor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Endpoints: equipe, gestor e desenvolvedor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27939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Método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Endpoint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 que faz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/equipe/salvar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Cadastra equipe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PUT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/equipe/atribuirGestor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Define o gestor (um gestor, uma equipe)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/equipe/mostrar/{id}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Detalhes da equipe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/equipe/listar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Lista equipes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/gestor/salvar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Cadastra gestor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/gestor/mostrar/{id}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Detalhes do gestor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/gestor/listar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Lista gestores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/dev/salvar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Cadastra desenvolvedor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PUT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/dev/atribuirEquipe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Coloca o desenvolvedor em uma equipe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PUT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/dev/atribuirProjeto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Atribui um projeto da equipe ao desenvolvedor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/dev/mostrar/{id}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Detalhes do desenvolvedor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/dev/listar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Lista desenvolvedores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Consulta adicional: atividades atrasadas</a:t>
            </a:r>
            <a:endParaRPr lang="en-US" sz="3200" dirty="0"/>
          </a:p>
        </p:txBody>
      </p:sp>
      <p:sp>
        <p:nvSpPr>
          <p:cNvPr id="4" name="selo consulta adicional"/>
          <p:cNvSpPr txBox="1"/>
          <p:nvPr/>
        </p:nvSpPr>
        <p:spPr>
          <a:xfrm>
            <a:off x="9052560" y="502920"/>
            <a:ext cx="2560320" cy="4572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CONSULTA ADICIONAL</a:t>
            </a:r>
            <a:endParaRPr lang="en-US" sz="1400" dirty="0"/>
          </a:p>
        </p:txBody>
      </p:sp>
      <p:sp>
        <p:nvSpPr>
          <p:cNvPr id="5" name="endpoint destaque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254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/atividade/atrasadas</a:t>
            </a:r>
            <a:endParaRPr lang="en-US" sz="2000" dirty="0"/>
          </a:p>
        </p:txBody>
      </p:sp>
      <p:sp>
        <p:nvSpPr>
          <p:cNvPr id="6" name="porque"/>
          <p:cNvSpPr/>
          <p:nvPr/>
        </p:nvSpPr>
        <p:spPr>
          <a:xfrm>
            <a:off x="548640" y="2103120"/>
            <a:ext cx="5486400" cy="402336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Por que é útil para a empresa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Mostra o que está com prazo vencido e ainda não terminou.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Ordena da maior prioridade para a menor, e no empate pelo prazo mais antigo.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Ignora projetos inativos e atividades concluídas.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Resolve a dor do enunciado: saber o que está pendente e o que é mais urgente.</a:t>
            </a:r>
            <a:endParaRPr lang="en-US" sz="2000" dirty="0"/>
          </a:p>
        </p:txBody>
      </p:sp>
      <p:sp>
        <p:nvSpPr>
          <p:cNvPr id="8" name="fundo codigo"/>
          <p:cNvSpPr/>
          <p:nvPr/>
        </p:nvSpPr>
        <p:spPr>
          <a:xfrm>
            <a:off x="6309360" y="2103120"/>
            <a:ext cx="5303520" cy="40233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3796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AtividadeRepository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@Query("select a from Atividade 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where a.ativo = true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a.projeto.ativo = true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a.situacaoAtual &lt;&gt; :concluida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a.dataFim &lt; :hoje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 by a.dataFim asc")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List&lt;Atividade&gt; findAtrasadas(...);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AtividadeService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ordena por prioridade (ALTA primeiro)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depois por dataFim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smtClean="0">
                <a:solidFill>
                  <a:schemeClr val="tx2"/>
                </a:solidFill>
              </a:rPr>
              <a:t>Demonstração da segurança</a:t>
            </a:r>
            <a:endParaRPr lang="en-US" sz="3200" dirty="0"/>
          </a:p>
        </p:txBody>
      </p:sp>
      <p:sp>
        <p:nvSpPr>
          <p:cNvPr id="4" name="neg 0"/>
          <p:cNvSpPr/>
          <p:nvPr/>
        </p:nvSpPr>
        <p:spPr>
          <a:xfrm>
            <a:off x="548640" y="1371600"/>
            <a:ext cx="1106424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x0"/>
          <p:cNvSpPr/>
          <p:nvPr/>
        </p:nvSpPr>
        <p:spPr>
          <a:xfrm>
            <a:off x="731520" y="1527048"/>
            <a:ext cx="530352" cy="530352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27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✕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37160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mtClean="0">
                <a:solidFill>
                  <a:schemeClr val="tx2"/>
                </a:solidFill>
              </a:rPr>
              <a:t>Sem login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297680" y="1371600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/projeto/listar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1371600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smtClean="0">
                <a:solidFill>
                  <a:schemeClr val="accent3"/>
                </a:solidFill>
              </a:rPr>
              <a:t>401: sem sessão, a API não sabe quem chamou</a:t>
            </a:r>
            <a:endParaRPr lang="en-US" sz="1300" dirty="0"/>
          </a:p>
        </p:txBody>
      </p:sp>
      <p:sp>
        <p:nvSpPr>
          <p:cNvPr id="10" name="neg 1"/>
          <p:cNvSpPr/>
          <p:nvPr/>
        </p:nvSpPr>
        <p:spPr>
          <a:xfrm>
            <a:off x="548640" y="2322576"/>
            <a:ext cx="1106424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x1"/>
          <p:cNvSpPr/>
          <p:nvPr/>
        </p:nvSpPr>
        <p:spPr>
          <a:xfrm>
            <a:off x="731520" y="2478024"/>
            <a:ext cx="530352" cy="530352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4780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✕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2322576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mtClean="0">
                <a:solidFill>
                  <a:schemeClr val="tx2"/>
                </a:solidFill>
              </a:rPr>
              <a:t>Senha errada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297680" y="2322576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/auth/login (email=marina@empresa.com, senha errada)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2322576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smtClean="0">
                <a:solidFill>
                  <a:schemeClr val="accent3"/>
                </a:solidFill>
              </a:rPr>
              <a:t>401: e-mail ou senha inválidos</a:t>
            </a:r>
            <a:endParaRPr lang="en-US" sz="1300" dirty="0"/>
          </a:p>
        </p:txBody>
      </p:sp>
      <p:sp>
        <p:nvSpPr>
          <p:cNvPr id="16" name="neg 2"/>
          <p:cNvSpPr/>
          <p:nvPr/>
        </p:nvSpPr>
        <p:spPr>
          <a:xfrm>
            <a:off x="548640" y="3273552"/>
            <a:ext cx="1106424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x2"/>
          <p:cNvSpPr/>
          <p:nvPr/>
        </p:nvSpPr>
        <p:spPr>
          <a:xfrm>
            <a:off x="731520" y="3429000"/>
            <a:ext cx="530352" cy="5303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429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mtClean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327355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mtClean="0">
                <a:solidFill>
                  <a:schemeClr val="tx2"/>
                </a:solidFill>
              </a:rPr>
              <a:t>Login como desenvolvedor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297680" y="3273552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/auth/login (email=carlos@empresa.com)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818120" y="3273552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smtClean="0">
                <a:solidFill>
                  <a:srgbClr val="0E7C7B"/>
                </a:solidFill>
              </a:rPr>
              <a:t>200: sessão criada com o perfil DESENVOLVEDOR</a:t>
            </a:r>
            <a:endParaRPr lang="en-US" sz="1300" dirty="0">
              <a:solidFill>
                <a:srgbClr val="0E7C7B"/>
              </a:solidFill>
            </a:endParaRPr>
          </a:p>
        </p:txBody>
      </p:sp>
      <p:sp>
        <p:nvSpPr>
          <p:cNvPr id="22" name="neg 3"/>
          <p:cNvSpPr/>
          <p:nvPr/>
        </p:nvSpPr>
        <p:spPr>
          <a:xfrm>
            <a:off x="548640" y="4224528"/>
            <a:ext cx="1106424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x3"/>
          <p:cNvSpPr/>
          <p:nvPr/>
        </p:nvSpPr>
        <p:spPr>
          <a:xfrm>
            <a:off x="731520" y="4379976"/>
            <a:ext cx="530352" cy="530352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43799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✕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422452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mtClean="0">
                <a:solidFill>
                  <a:schemeClr val="tx2"/>
                </a:solidFill>
              </a:rPr>
              <a:t>Desenvolvedor cadastrando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4224528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/equipe/salvar?nome=Equipe Nova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18120" y="4224528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smtClean="0">
                <a:solidFill>
                  <a:schemeClr val="accent3"/>
                </a:solidFill>
              </a:rPr>
              <a:t>403: o perfil DESENVOLVEDOR não pode cadastrar</a:t>
            </a:r>
            <a:endParaRPr lang="en-US" sz="1300" dirty="0"/>
          </a:p>
        </p:txBody>
      </p:sp>
      <p:sp>
        <p:nvSpPr>
          <p:cNvPr id="28" name="neg 4"/>
          <p:cNvSpPr/>
          <p:nvPr/>
        </p:nvSpPr>
        <p:spPr>
          <a:xfrm>
            <a:off x="548640" y="5175504"/>
            <a:ext cx="1106424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x4"/>
          <p:cNvSpPr/>
          <p:nvPr/>
        </p:nvSpPr>
        <p:spPr>
          <a:xfrm>
            <a:off x="731520" y="5330952"/>
            <a:ext cx="530352" cy="5303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" y="53309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mtClean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1463040" y="5175504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mtClean="0">
                <a:solidFill>
                  <a:schemeClr val="tx2"/>
                </a:solidFill>
              </a:rPr>
              <a:t>Login como gestor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4297680" y="5175504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/auth/logout e POST /auth/login (email=marina@empresa.com)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818120" y="5175504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smtClean="0">
                <a:solidFill>
                  <a:srgbClr val="0E7C7B"/>
                </a:solidFill>
              </a:rPr>
              <a:t>200: perfil GESTOR, pronto para o roteiro a seguir</a:t>
            </a:r>
            <a:endParaRPr lang="en-US" sz="1300" dirty="0">
              <a:solidFill>
                <a:srgbClr val="0E7C7B"/>
              </a:solidFill>
            </a:endParaRPr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364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Funcionamento da API: roteiro de demonstração</a:t>
            </a:r>
            <a:endParaRPr lang="en-US" sz="3200" dirty="0"/>
          </a:p>
        </p:txBody>
      </p:sp>
      <p:sp>
        <p:nvSpPr>
          <p:cNvPr id="4" name="demo 1"/>
          <p:cNvSpPr/>
          <p:nvPr/>
        </p:nvSpPr>
        <p:spPr>
          <a:xfrm>
            <a:off x="548640" y="137160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n1"/>
          <p:cNvSpPr txBox="1"/>
          <p:nvPr/>
        </p:nvSpPr>
        <p:spPr>
          <a:xfrm>
            <a:off x="685800" y="1453896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3716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Cadastrar projeto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429000" y="137160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/projeto/salvar?nome=...&amp;descricao=...&amp;dataInicio=...&amp;dataFim=...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13716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Projeto salvo com sucesso!</a:t>
            </a:r>
            <a:endParaRPr lang="en-US" sz="1200" dirty="0"/>
          </a:p>
        </p:txBody>
      </p:sp>
      <p:sp>
        <p:nvSpPr>
          <p:cNvPr id="9" name="demo 2"/>
          <p:cNvSpPr/>
          <p:nvPr/>
        </p:nvSpPr>
        <p:spPr>
          <a:xfrm>
            <a:off x="548640" y="2066544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n2"/>
          <p:cNvSpPr txBox="1"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06654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Cadastrar atividade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206654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/atividade/salvar?projetoId=1&amp;nome=...&amp;prioridade=MEDIA&amp;...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06654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Atividade salva com sucesso!</a:t>
            </a:r>
            <a:endParaRPr lang="en-US" sz="1200" dirty="0"/>
          </a:p>
        </p:txBody>
      </p:sp>
      <p:sp>
        <p:nvSpPr>
          <p:cNvPr id="14" name="demo 3"/>
          <p:cNvSpPr/>
          <p:nvPr/>
        </p:nvSpPr>
        <p:spPr>
          <a:xfrm>
            <a:off x="548640" y="2761488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n3"/>
          <p:cNvSpPr txBox="1"/>
          <p:nvPr/>
        </p:nvSpPr>
        <p:spPr>
          <a:xfrm>
            <a:off x="685800" y="2843784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276148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Assumir atividade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29000" y="276148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/atividade/atribuirDesenvolvedor?atividadeId=3&amp;devId=1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0" y="276148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Atividade atribuída ao desenvolvedor Carlos Lima com sucesso!</a:t>
            </a:r>
            <a:endParaRPr lang="en-US" sz="1200" dirty="0"/>
          </a:p>
        </p:txBody>
      </p:sp>
      <p:sp>
        <p:nvSpPr>
          <p:cNvPr id="19" name="demo 4"/>
          <p:cNvSpPr/>
          <p:nvPr/>
        </p:nvSpPr>
        <p:spPr>
          <a:xfrm>
            <a:off x="548640" y="3456432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n4"/>
          <p:cNvSpPr txBox="1"/>
          <p:nvPr/>
        </p:nvSpPr>
        <p:spPr>
          <a:xfrm>
            <a:off x="685800" y="3538728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45643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Atribuir projeto ao dev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429000" y="345643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/dev/atribuirProjeto?devId=2&amp;projetoId=1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046720" y="345643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Projeto atribuído ao desenvolvedor Ana Prado com sucesso!</a:t>
            </a:r>
            <a:endParaRPr lang="en-US" sz="1200" dirty="0"/>
          </a:p>
        </p:txBody>
      </p:sp>
      <p:sp>
        <p:nvSpPr>
          <p:cNvPr id="24" name="demo 5"/>
          <p:cNvSpPr/>
          <p:nvPr/>
        </p:nvSpPr>
        <p:spPr>
          <a:xfrm>
            <a:off x="548640" y="4151376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n5"/>
          <p:cNvSpPr txBox="1"/>
          <p:nvPr/>
        </p:nvSpPr>
        <p:spPr>
          <a:xfrm>
            <a:off x="685800" y="4233672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415137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Atualizar situação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429000" y="415137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/atividade/atualizarStatus/3?situacao=EM_ANDAMENTO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046720" y="415137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Situação da atividade atualizada para EM_ANDAMENTO!</a:t>
            </a:r>
            <a:endParaRPr lang="en-US" sz="1200" dirty="0"/>
          </a:p>
        </p:txBody>
      </p:sp>
      <p:sp>
        <p:nvSpPr>
          <p:cNvPr id="29" name="demo 6"/>
          <p:cNvSpPr/>
          <p:nvPr/>
        </p:nvSpPr>
        <p:spPr>
          <a:xfrm>
            <a:off x="548640" y="4846320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n6"/>
          <p:cNvSpPr txBox="1"/>
          <p:nvPr/>
        </p:nvSpPr>
        <p:spPr>
          <a:xfrm>
            <a:off x="685800" y="4928616"/>
            <a:ext cx="457200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1280160" y="48463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CONSULTA ADICIONAL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3429000" y="484632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/atividade/atrasadas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046720" y="48463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chemeClr val="tx2"/>
                </a:solidFill>
              </a:rPr>
              <a:t>Lista com "Implementar autenticação" (ALTA, prazo vencido)</a:t>
            </a:r>
            <a:endParaRPr lang="en-US" sz="1200" dirty="0"/>
          </a:p>
        </p:txBody>
      </p:sp>
      <p:sp>
        <p:nvSpPr>
          <p:cNvPr id="34" name="demo 7"/>
          <p:cNvSpPr/>
          <p:nvPr/>
        </p:nvSpPr>
        <p:spPr>
          <a:xfrm>
            <a:off x="548640" y="5541264"/>
            <a:ext cx="1106424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n7"/>
          <p:cNvSpPr txBox="1"/>
          <p:nvPr/>
        </p:nvSpPr>
        <p:spPr>
          <a:xfrm>
            <a:off x="685800" y="5623560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1280160" y="554126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Ativo / inativo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3429000" y="554126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/projeto/setStatus/2 (chamar de novo reativa)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8046720" y="554126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Projeto inativado com sucesso!  →  Projeto reativado com sucesso!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Demonstração das regras sendo recusadas</a:t>
            </a:r>
            <a:endParaRPr lang="en-US" sz="3200" dirty="0"/>
          </a:p>
        </p:txBody>
      </p:sp>
      <p:sp>
        <p:nvSpPr>
          <p:cNvPr id="4" name="neg 0"/>
          <p:cNvSpPr/>
          <p:nvPr/>
        </p:nvSpPr>
        <p:spPr>
          <a:xfrm>
            <a:off x="548640" y="1371600"/>
            <a:ext cx="1106424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x0"/>
          <p:cNvSpPr/>
          <p:nvPr/>
        </p:nvSpPr>
        <p:spPr>
          <a:xfrm>
            <a:off x="731520" y="1527048"/>
            <a:ext cx="530352" cy="53035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27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✕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37160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Concluir projeto com pendência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297680" y="1371600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/projeto/atualizarStatus/1?status=CONCLUIDO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1371600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Não é possível concluir o projeto: existem atividades não concluídas!</a:t>
            </a:r>
            <a:endParaRPr lang="en-US" sz="1300" dirty="0"/>
          </a:p>
        </p:txBody>
      </p:sp>
      <p:sp>
        <p:nvSpPr>
          <p:cNvPr id="10" name="neg 1"/>
          <p:cNvSpPr/>
          <p:nvPr/>
        </p:nvSpPr>
        <p:spPr>
          <a:xfrm>
            <a:off x="548640" y="2322576"/>
            <a:ext cx="1106424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x1"/>
          <p:cNvSpPr/>
          <p:nvPr/>
        </p:nvSpPr>
        <p:spPr>
          <a:xfrm>
            <a:off x="731520" y="2478024"/>
            <a:ext cx="530352" cy="53035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4780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✕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2322576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Campo em branco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297680" y="2322576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/projeto/salvar?nome=&amp;descricao=x&amp;...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2322576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O nome do projeto é obrigatório!</a:t>
            </a:r>
            <a:endParaRPr lang="en-US" sz="1300" dirty="0"/>
          </a:p>
        </p:txBody>
      </p:sp>
      <p:sp>
        <p:nvSpPr>
          <p:cNvPr id="16" name="neg 2"/>
          <p:cNvSpPr/>
          <p:nvPr/>
        </p:nvSpPr>
        <p:spPr>
          <a:xfrm>
            <a:off x="548640" y="3273552"/>
            <a:ext cx="1106424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x2"/>
          <p:cNvSpPr/>
          <p:nvPr/>
        </p:nvSpPr>
        <p:spPr>
          <a:xfrm>
            <a:off x="731520" y="3429000"/>
            <a:ext cx="530352" cy="53035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429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✕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327355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no passado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297680" y="3273552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/atividade/salvar?...&amp;dataFim=2020-02-01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818120" y="3273552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A data de fim não pode estar no passado!</a:t>
            </a:r>
            <a:endParaRPr lang="en-US" sz="1300" dirty="0"/>
          </a:p>
        </p:txBody>
      </p:sp>
      <p:sp>
        <p:nvSpPr>
          <p:cNvPr id="22" name="neg 3"/>
          <p:cNvSpPr/>
          <p:nvPr/>
        </p:nvSpPr>
        <p:spPr>
          <a:xfrm>
            <a:off x="548640" y="4224528"/>
            <a:ext cx="1106424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x3"/>
          <p:cNvSpPr/>
          <p:nvPr/>
        </p:nvSpPr>
        <p:spPr>
          <a:xfrm>
            <a:off x="731520" y="4379976"/>
            <a:ext cx="530352" cy="53035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43799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✕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422452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Atividade fora do período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4224528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/atividade/salvar?...&amp;dataFim=2040-01-01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818120" y="4224528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As datas da atividade devem estar dentro do período do projeto (...)!</a:t>
            </a:r>
            <a:endParaRPr lang="en-US" sz="1300" dirty="0"/>
          </a:p>
        </p:txBody>
      </p:sp>
      <p:sp>
        <p:nvSpPr>
          <p:cNvPr id="28" name="neg 4"/>
          <p:cNvSpPr/>
          <p:nvPr/>
        </p:nvSpPr>
        <p:spPr>
          <a:xfrm>
            <a:off x="548640" y="5175504"/>
            <a:ext cx="1106424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x4"/>
          <p:cNvSpPr/>
          <p:nvPr/>
        </p:nvSpPr>
        <p:spPr>
          <a:xfrm>
            <a:off x="731520" y="5330952"/>
            <a:ext cx="530352" cy="53035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" y="53309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✕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1463040" y="5175504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Inativar com atividade em andamento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4297680" y="5175504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/projeto/setStatus/1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818120" y="5175504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Não é possível inativar o projeto: existem atividades em andamento!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Dados armazenados no PostgreSQL</a:t>
            </a:r>
            <a:endParaRPr lang="en-US" sz="3200" dirty="0"/>
          </a:p>
        </p:txBody>
      </p:sp>
      <p:sp>
        <p:nvSpPr>
          <p:cNvPr id="4" name="tabela equipe"/>
          <p:cNvSpPr txBox="1"/>
          <p:nvPr/>
        </p:nvSpPr>
        <p:spPr>
          <a:xfrm>
            <a:off x="548640" y="1371600"/>
            <a:ext cx="246888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1905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equipe</a:t>
            </a:r>
            <a:endParaRPr lang="en-US" sz="1400" dirty="0"/>
          </a:p>
        </p:txBody>
      </p:sp>
      <p:sp>
        <p:nvSpPr>
          <p:cNvPr id="5" name="tabela projeto"/>
          <p:cNvSpPr txBox="1"/>
          <p:nvPr/>
        </p:nvSpPr>
        <p:spPr>
          <a:xfrm>
            <a:off x="548640" y="1938528"/>
            <a:ext cx="246888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1905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</a:t>
            </a:r>
            <a:endParaRPr lang="en-US" sz="1400" dirty="0"/>
          </a:p>
        </p:txBody>
      </p:sp>
      <p:sp>
        <p:nvSpPr>
          <p:cNvPr id="6" name="tabela atividade"/>
          <p:cNvSpPr txBox="1"/>
          <p:nvPr/>
        </p:nvSpPr>
        <p:spPr>
          <a:xfrm>
            <a:off x="548640" y="2505456"/>
            <a:ext cx="2468880" cy="4572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1905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atividade</a:t>
            </a:r>
            <a:endParaRPr lang="en-US" sz="1400" dirty="0"/>
          </a:p>
        </p:txBody>
      </p:sp>
      <p:sp>
        <p:nvSpPr>
          <p:cNvPr id="7" name="tabela usuario"/>
          <p:cNvSpPr txBox="1"/>
          <p:nvPr/>
        </p:nvSpPr>
        <p:spPr>
          <a:xfrm>
            <a:off x="548640" y="3072384"/>
            <a:ext cx="2468880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1905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endParaRPr lang="en-US" sz="1400" dirty="0"/>
          </a:p>
        </p:txBody>
      </p:sp>
      <p:sp>
        <p:nvSpPr>
          <p:cNvPr id="8" name="tabela gestor_equipe"/>
          <p:cNvSpPr txBox="1"/>
          <p:nvPr/>
        </p:nvSpPr>
        <p:spPr>
          <a:xfrm>
            <a:off x="548640" y="3639312"/>
            <a:ext cx="2468880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1905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gestor_equipe</a:t>
            </a:r>
            <a:endParaRPr lang="en-US" sz="1400" dirty="0"/>
          </a:p>
        </p:txBody>
      </p:sp>
      <p:sp>
        <p:nvSpPr>
          <p:cNvPr id="9" name="tabela desenvolvedor"/>
          <p:cNvSpPr txBox="1"/>
          <p:nvPr/>
        </p:nvSpPr>
        <p:spPr>
          <a:xfrm>
            <a:off x="548640" y="4206240"/>
            <a:ext cx="2468880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1905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desenvolvedor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846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6 tabelas criadas pelo JPA (ddl-auto=update)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id, nome, situacao_atual, prioridade, projeto_id, desenvolvedor_id from atividade;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1920240"/>
          <a:ext cx="8321040" cy="16459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nome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situacao_atual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prioridade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projeto_id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desenv._id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Modelar banco de dados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CONCLUIDA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Implementar autenticação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EM_ANDAMENTO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Escrever documentação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PENDENTE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BAIXA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(vazio)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o que mostrar"/>
          <p:cNvSpPr/>
          <p:nvPr/>
        </p:nvSpPr>
        <p:spPr>
          <a:xfrm>
            <a:off x="3291840" y="3840480"/>
            <a:ext cx="832104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3566160" y="393192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pt-BR" sz="1800" b="1" smtClean="0">
                <a:solidFill>
                  <a:schemeClr val="tx2"/>
                </a:solidFill>
              </a:rPr>
              <a:t>O que mostrar no banco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400" smtClean="0">
                <a:solidFill>
                  <a:schemeClr val="tx1"/>
                </a:solidFill>
              </a:rPr>
              <a:t>atividade.projeto_id é obrigatório: a chave estrangeira garante o vínculo.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400" smtClean="0">
                <a:solidFill>
                  <a:schemeClr val="tx1"/>
                </a:solidFill>
              </a:rPr>
              <a:t>Projetos e atividades inativados continuam nas tabelas com ativo = false.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400" smtClean="0">
                <a:solidFill>
                  <a:schemeClr val="tx1"/>
                </a:solidFill>
              </a:rPr>
              <a:t>Usuario, gestor_equipe e desenvolvedor se ligam pelo id (herança JOINED).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400" smtClean="0">
                <a:solidFill>
                  <a:schemeClr val="tx1"/>
                </a:solidFill>
              </a:rPr>
              <a:t>usuario.senha guarda só o hash BCrypt, nunca a senha digitada.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Decisões do grupo e como justificá-las</a:t>
            </a:r>
            <a:endParaRPr lang="en-US" sz="3200" dirty="0"/>
          </a:p>
        </p:txBody>
      </p:sp>
      <p:sp>
        <p:nvSpPr>
          <p:cNvPr id="4" name="decisao 0"/>
          <p:cNvSpPr/>
          <p:nvPr/>
        </p:nvSpPr>
        <p:spPr>
          <a:xfrm>
            <a:off x="548640" y="13716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setStatus em vez de excluir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Um método alterna ativo e inativo, preserva o histórico e respeita a situação do projeto.</a:t>
            </a:r>
            <a:endParaRPr lang="en-US" sz="1500" dirty="0"/>
          </a:p>
        </p:txBody>
      </p:sp>
      <p:sp>
        <p:nvSpPr>
          <p:cNvPr id="7" name="decisao 1"/>
          <p:cNvSpPr/>
          <p:nvPr/>
        </p:nvSpPr>
        <p:spPr>
          <a:xfrm>
            <a:off x="6172200" y="13716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4652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Herança JOINED em Usuario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2011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Evita repetir nome, CPF e e-mail e separa gestor de desenvolvedor.</a:t>
            </a:r>
            <a:endParaRPr lang="en-US" sz="1500" dirty="0"/>
          </a:p>
        </p:txBody>
      </p:sp>
      <p:sp>
        <p:nvSpPr>
          <p:cNvPr id="10" name="decisao 2"/>
          <p:cNvSpPr/>
          <p:nvPr/>
        </p:nvSpPr>
        <p:spPr>
          <a:xfrm>
            <a:off x="548640" y="29718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22960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Regras no Service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611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 enunciado proíbe regra concentrada nos endpoints.</a:t>
            </a:r>
            <a:endParaRPr lang="en-US" sz="1500" dirty="0"/>
          </a:p>
        </p:txBody>
      </p:sp>
      <p:sp>
        <p:nvSpPr>
          <p:cNvPr id="13" name="decisao 3"/>
          <p:cNvSpPr/>
          <p:nvPr/>
        </p:nvSpPr>
        <p:spPr>
          <a:xfrm>
            <a:off x="6172200" y="29718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446520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Respostas em texto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3611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Mensagens </a:t>
            </a:r>
            <a:r>
              <a:rPr lang="en-US" sz="1500" dirty="0" smtClean="0">
                <a:solidFill>
                  <a:schemeClr val="tx1"/>
                </a:solidFill>
              </a:rPr>
              <a:t>claras, </a:t>
            </a:r>
            <a:r>
              <a:rPr lang="en-US" sz="1500" dirty="0">
                <a:solidFill>
                  <a:schemeClr val="tx1"/>
                </a:solidFill>
              </a:rPr>
              <a:t>no padrão usado em aula.</a:t>
            </a:r>
            <a:endParaRPr lang="en-US" sz="1500" dirty="0"/>
          </a:p>
        </p:txBody>
      </p:sp>
      <p:sp>
        <p:nvSpPr>
          <p:cNvPr id="16" name="decisao 4"/>
          <p:cNvSpPr/>
          <p:nvPr/>
        </p:nvSpPr>
        <p:spPr>
          <a:xfrm>
            <a:off x="548640" y="45720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22960" y="4709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Consulta em JPQL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5212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Filtra no banco, não em memória, e entrega o que há de mais urgente.</a:t>
            </a:r>
            <a:endParaRPr lang="en-US" sz="1500" dirty="0"/>
          </a:p>
        </p:txBody>
      </p:sp>
      <p:sp>
        <p:nvSpPr>
          <p:cNvPr id="19" name="decisao 5"/>
          <p:cNvSpPr/>
          <p:nvPr/>
        </p:nvSpPr>
        <p:spPr>
          <a:xfrm>
            <a:off x="6172200" y="45720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446520" y="4709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Enums para estados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5212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Impedem valores inválidos de situação, prioridade e status.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smtClean="0">
                <a:solidFill>
                  <a:schemeClr val="tx2"/>
                </a:solidFill>
              </a:rPr>
              <a:t>Decisões de segurança</a:t>
            </a:r>
            <a:endParaRPr lang="en-US" sz="3200" dirty="0"/>
          </a:p>
        </p:txBody>
      </p:sp>
      <p:sp>
        <p:nvSpPr>
          <p:cNvPr id="4" name="decisao 0"/>
          <p:cNvSpPr/>
          <p:nvPr/>
        </p:nvSpPr>
        <p:spPr>
          <a:xfrm>
            <a:off x="548640" y="13716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smtClean="0">
                <a:solidFill>
                  <a:schemeClr val="accent1"/>
                </a:solidFill>
              </a:rPr>
              <a:t>Sessão com cookie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Mecanismo padrão do Spring Security: o login cria a sessão e o navegador a reenvia.</a:t>
            </a:r>
            <a:endParaRPr lang="en-US" sz="1500" dirty="0"/>
          </a:p>
        </p:txBody>
      </p:sp>
      <p:sp>
        <p:nvSpPr>
          <p:cNvPr id="7" name="decisao 1"/>
          <p:cNvSpPr/>
          <p:nvPr/>
        </p:nvSpPr>
        <p:spPr>
          <a:xfrm>
            <a:off x="6172200" y="13716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4652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smtClean="0">
                <a:solidFill>
                  <a:schemeClr val="accent1"/>
                </a:solidFill>
              </a:rPr>
              <a:t>Senha com BCrypt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2011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O banco guarda só o hash. A senha nunca aparece no JSON (@JsonIgnore).</a:t>
            </a:r>
            <a:endParaRPr lang="en-US" sz="1500" dirty="0"/>
          </a:p>
        </p:txBody>
      </p:sp>
      <p:sp>
        <p:nvSpPr>
          <p:cNvPr id="10" name="decisao 2"/>
          <p:cNvSpPr/>
          <p:nvPr/>
        </p:nvSpPr>
        <p:spPr>
          <a:xfrm>
            <a:off x="548640" y="29718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22960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smtClean="0">
                <a:solidFill>
                  <a:schemeClr val="accent1"/>
                </a:solidFill>
              </a:rPr>
              <a:t>E-mail como login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611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Gestor e desenvolvedor já tinham e-mail. Por isso ele não pode se repetir.</a:t>
            </a:r>
            <a:endParaRPr lang="en-US" sz="1500" dirty="0"/>
          </a:p>
        </p:txBody>
      </p:sp>
      <p:sp>
        <p:nvSpPr>
          <p:cNvPr id="13" name="decisao 3"/>
          <p:cNvSpPr/>
          <p:nvPr/>
        </p:nvSpPr>
        <p:spPr>
          <a:xfrm>
            <a:off x="6172200" y="29718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446520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smtClean="0">
                <a:solidFill>
                  <a:schemeClr val="accent1"/>
                </a:solidFill>
              </a:rPr>
              <a:t>Perfil pelo tipo de usuário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3611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GestorEquipe vira GESTOR e Desenvolvedor vira DESENVOLVEDOR, sem tabela nova.</a:t>
            </a:r>
            <a:endParaRPr lang="en-US" sz="1500" dirty="0"/>
          </a:p>
        </p:txBody>
      </p:sp>
      <p:sp>
        <p:nvSpPr>
          <p:cNvPr id="16" name="decisao 4"/>
          <p:cNvSpPr/>
          <p:nvPr/>
        </p:nvSpPr>
        <p:spPr>
          <a:xfrm>
            <a:off x="548640" y="45720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22960" y="4709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smtClean="0">
                <a:solidFill>
                  <a:schemeClr val="accent1"/>
                </a:solidFill>
              </a:rPr>
              <a:t>Permissões no SecurityConfig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5212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Um só lugar decide o acesso, antes do Controller. As regras de negócio não mudaram.</a:t>
            </a:r>
            <a:endParaRPr lang="en-US" sz="1500" dirty="0"/>
          </a:p>
        </p:txBody>
      </p:sp>
      <p:sp>
        <p:nvSpPr>
          <p:cNvPr id="19" name="decisao 5"/>
          <p:cNvSpPr/>
          <p:nvPr/>
        </p:nvSpPr>
        <p:spPr>
          <a:xfrm>
            <a:off x="6172200" y="45720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446520" y="4709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smtClean="0">
                <a:solidFill>
                  <a:schemeClr val="accent1"/>
                </a:solidFill>
              </a:rPr>
              <a:t>Senha inicial configurável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5212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Usuários cadastrados antes do login recebem a senha definida em app.senha-inicial.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940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Perguntas?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stao de Projetos">
  <a:themeElements>
    <a:clrScheme name="Gestao de Projetos">
      <a:dk1>
        <a:srgbClr val="1B2B2E"/>
      </a:dk1>
      <a:lt1>
        <a:srgbClr val="FFFFFF"/>
      </a:lt1>
      <a:dk2>
        <a:srgbClr val="0F2A2E"/>
      </a:dk2>
      <a:lt2>
        <a:srgbClr val="F2F6F5"/>
      </a:lt2>
      <a:accent1>
        <a:srgbClr val="0E7C7B"/>
      </a:accent1>
      <a:accent2>
        <a:srgbClr val="E8A33D"/>
      </a:accent2>
      <a:accent3>
        <a:srgbClr val="D1495B"/>
      </a:accent3>
      <a:accent4>
        <a:srgbClr val="3D5A80"/>
      </a:accent4>
      <a:accent5>
        <a:srgbClr val="6A9C89"/>
      </a:accent5>
      <a:accent6>
        <a:srgbClr val="8A8F98"/>
      </a:accent6>
      <a:hlink>
        <a:srgbClr val="0E7C7B"/>
      </a:hlink>
      <a:folHlink>
        <a:srgbClr val="6A9C89"/>
      </a:folHlink>
    </a:clrScheme>
    <a:fontScheme name="Gestao de Projeto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2704</Words>
  <Application>Microsoft Office PowerPoint</Application>
  <PresentationFormat>Widescreen</PresentationFormat>
  <Paragraphs>552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Gestao de Projetos</vt:lpstr>
      <vt:lpstr>API de Gestão de Projetos e Atividades</vt:lpstr>
      <vt:lpstr>O problema e o roteiro da apresentação</vt:lpstr>
      <vt:lpstr>Estrutura do projeto</vt:lpstr>
      <vt:lpstr>Modelagem das entidades</vt:lpstr>
      <vt:lpstr>Relacionamento entre as entidades</vt:lpstr>
      <vt:lpstr>Organização das camadas</vt:lpstr>
      <vt:lpstr>Principais regras de negócio</vt:lpstr>
      <vt:lpstr>Segurança: como o login funciona</vt:lpstr>
      <vt:lpstr>Endpoints e permissões por perfil</vt:lpstr>
      <vt:lpstr>Códigos de resposta da API</vt:lpstr>
      <vt:lpstr>Endpoints: projeto</vt:lpstr>
      <vt:lpstr>Endpoints: atividade (com a consulta adicional)</vt:lpstr>
      <vt:lpstr>Endpoints: equipe, gestor e desenvolvedor</vt:lpstr>
      <vt:lpstr>Consulta adicional: atividades atrasadas</vt:lpstr>
      <vt:lpstr>Demonstração da segurança</vt:lpstr>
      <vt:lpstr>Funcionamento da API: roteiro de demonstração</vt:lpstr>
      <vt:lpstr>Demonstração das regras sendo recusadas</vt:lpstr>
      <vt:lpstr>Dados armazenados no PostgreSQL</vt:lpstr>
      <vt:lpstr>Decisões do grupo e como justificá-las</vt:lpstr>
      <vt:lpstr>Decisões de segurança</vt:lpstr>
      <vt:lpstr>Perguntas?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Trabalho Prático</dc:title>
  <dc:subject>PptxGenJS Presentation</dc:subject>
  <dc:creator>Grupo - Trabalho Prático Spring Boot</dc:creator>
  <cp:lastModifiedBy>Gabriel Marcos</cp:lastModifiedBy>
  <cp:revision>6</cp:revision>
  <dcterms:created xsi:type="dcterms:W3CDTF">2026-10-08T23:12:21Z</dcterms:created>
  <dcterms:modified xsi:type="dcterms:W3CDTF">2026-10-23T00:32:46Z</dcterms:modified>
</cp:coreProperties>
</file>